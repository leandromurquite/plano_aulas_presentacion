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60152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PLAN DE GESTIÓN INSTITUCIONAL Y TELECOMUNICACIONES</a:t>
            </a:r>
          </a:p>
          <a:p>
            <a:pPr>
              <a:defRPr sz="1400">
                <a:solidFill>
                  <a:srgbClr val="38BDF8"/>
                </a:solidFill>
              </a:defRPr>
            </a:pPr>
            <a:r>
              <a:t>Relevamiento Arquitectónico de Aulas y Red Wi-Fi de Alta Densidad (AP1 a AP16)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Ciclo Lectivo Oficial • Anexo 1: Plano de Edificio • Diapositivas 100% Editables y Desbloqueadas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49377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🏛️ SECCIÓN 1: PLANO DE AULAS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• 22 Aulas y dependencias administrativas totalmente mapeadas.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• Turno Mañana, Turno Tarde y Turno Noche con carreras y materias.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• Codificación por color según especialidad (Salud, Higiene, Software, etc.).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3291840"/>
            <a:ext cx="49377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b="1" sz="1400">
                <a:solidFill>
                  <a:srgbClr val="E11D48"/>
                </a:solidFill>
              </a:defRPr>
            </a:pPr>
            <a:r>
              <a:t>🔌 SECCIÓN 2: PLANO DE REDES (OFICIAL)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• 16 Access Points Wi-Fi (AP1 a AP16) con alimentación PoE.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• Rack Central, FireWall y Switch POE P16 ubicados en Kiosco.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• Modem ISP, Router DHCP y Switch P16 en Rectoría con Backbone Azul.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2648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Ministerio de Educación  •  Dirección de Tecnología e Infraestructura Edilicia  •  Documento Técnico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315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50">
                <a:solidFill>
                  <a:srgbClr val="FFFFFF"/>
                </a:solidFill>
              </a:defRPr>
            </a:pPr>
            <a:r>
              <a:t>SECCIÓN 1  •  Plano de las Aulas - Turno Mañana (08:00 - 12:30)</a:t>
            </a:r>
          </a:p>
          <a:p>
            <a:pPr>
              <a:defRPr sz="950">
                <a:solidFill>
                  <a:srgbClr val="38BDF8"/>
                </a:solidFill>
              </a:defRPr>
            </a:pPr>
            <a:r>
              <a:t>Asignaciones Oficiales del Turno Matutino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201168"/>
            <a:ext cx="210312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PROYECTO OFICIAL •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960120"/>
            <a:ext cx="8961120" cy="5532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1246" y="2776637"/>
            <a:ext cx="3871203" cy="1155965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PATIO CENTRAL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51246" y="2405076"/>
            <a:ext cx="3584448" cy="3715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NORTE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2534" y="2405076"/>
            <a:ext cx="394289" cy="27660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OESTE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60117" y="2405076"/>
            <a:ext cx="394289" cy="27660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ESTE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6823" y="4799576"/>
            <a:ext cx="5627583" cy="3715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CIRCULACION SUR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2559" y="3932602"/>
            <a:ext cx="358444" cy="231193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CONECTOR SUR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0602" y="3932602"/>
            <a:ext cx="931956" cy="86697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Rectoria</a:t>
            </a:r>
          </a:p>
          <a:p>
            <a:pPr>
              <a:defRPr sz="700" b="1">
                <a:solidFill>
                  <a:srgbClr val="0F172A"/>
                </a:solidFill>
              </a:defRPr>
            </a:pPr>
            <a:r>
              <a:t>🏛️ Equipo Directivo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1004" y="3932602"/>
            <a:ext cx="896112" cy="86697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Sala Profesores</a:t>
            </a:r>
          </a:p>
          <a:p>
            <a:pPr>
              <a:defRPr sz="700" b="1">
                <a:solidFill>
                  <a:srgbClr val="0F172A"/>
                </a:solidFill>
              </a:defRPr>
            </a:pPr>
            <a:r>
              <a:t>🏛️ Sala de Reuniones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47116" y="3932602"/>
            <a:ext cx="1075334" cy="866974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12</a:t>
            </a:r>
          </a:p>
          <a:p>
            <a:pPr>
              <a:defRPr sz="700" b="1">
                <a:solidFill>
                  <a:srgbClr val="9A3412"/>
                </a:solidFill>
              </a:defRPr>
            </a:pPr>
            <a:r>
              <a:t>🍳 Cocina 1°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0602" y="5171136"/>
            <a:ext cx="931956" cy="10733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Preceptoria</a:t>
            </a:r>
          </a:p>
          <a:p>
            <a:pPr>
              <a:defRPr sz="700" b="1">
                <a:solidFill>
                  <a:srgbClr val="0F172A"/>
                </a:solidFill>
              </a:defRPr>
            </a:pPr>
            <a:r>
              <a:t>🏛️ Preceptoría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51004" y="5171136"/>
            <a:ext cx="681045" cy="1073396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Kiosco</a:t>
            </a:r>
          </a:p>
          <a:p>
            <a:pPr>
              <a:defRPr sz="700" b="1">
                <a:solidFill>
                  <a:srgbClr val="334155"/>
                </a:solidFill>
              </a:defRPr>
            </a:pPr>
            <a:r>
              <a:t>🔧 Kiosco / Buffet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51246" y="3932602"/>
            <a:ext cx="609356" cy="866974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Banos Oeste</a:t>
            </a:r>
          </a:p>
          <a:p>
            <a:pPr>
              <a:defRPr sz="700" b="1">
                <a:solidFill>
                  <a:srgbClr val="334155"/>
                </a:solidFill>
              </a:defRPr>
            </a:pPr>
            <a:r>
              <a:t>🔧 Sanitarios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22935" y="5171136"/>
            <a:ext cx="537667" cy="1073396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Banos Sur</a:t>
            </a:r>
          </a:p>
          <a:p>
            <a:pPr>
              <a:defRPr sz="700" b="1">
                <a:solidFill>
                  <a:srgbClr val="334155"/>
                </a:solidFill>
              </a:defRPr>
            </a:pPr>
            <a:r>
              <a:t>🔧 Sanitarios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2049" y="5171136"/>
            <a:ext cx="681045" cy="1073396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</a:t>
            </a:r>
          </a:p>
          <a:p>
            <a:pPr>
              <a:defRPr sz="700" b="1">
                <a:solidFill>
                  <a:srgbClr val="9A3412"/>
                </a:solidFill>
              </a:defRPr>
            </a:pPr>
            <a:r>
              <a:t>🍳 Cocina 3°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13094" y="5171136"/>
            <a:ext cx="681045" cy="1073396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2</a:t>
            </a:r>
          </a:p>
          <a:p>
            <a:pPr>
              <a:defRPr sz="700" b="1">
                <a:solidFill>
                  <a:srgbClr val="6B21A8"/>
                </a:solidFill>
              </a:defRPr>
            </a:pPr>
            <a:r>
              <a:t>⚖️ Jurídica 2°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94139" y="5171136"/>
            <a:ext cx="681045" cy="1073396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3</a:t>
            </a:r>
          </a:p>
          <a:p>
            <a:pPr>
              <a:defRPr sz="700" b="1">
                <a:solidFill>
                  <a:srgbClr val="6B21A8"/>
                </a:solidFill>
              </a:defRPr>
            </a:pPr>
            <a:r>
              <a:t>⚖️ Periodismo 1°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75184" y="5171136"/>
            <a:ext cx="1433779" cy="1073396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4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1° 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41162" y="4469300"/>
            <a:ext cx="967800" cy="701836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5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1° 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41162" y="3767464"/>
            <a:ext cx="967800" cy="701836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6</a:t>
            </a:r>
          </a:p>
          <a:p>
            <a:pPr>
              <a:defRPr sz="700" b="1">
                <a:solidFill>
                  <a:srgbClr val="166534"/>
                </a:solidFill>
              </a:defRPr>
            </a:pPr>
            <a:r>
              <a:t>🏃 Prep. Física 3°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1162" y="3065628"/>
            <a:ext cx="967800" cy="701836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7</a:t>
            </a:r>
          </a:p>
          <a:p>
            <a:pPr>
              <a:defRPr sz="700" b="1">
                <a:solidFill>
                  <a:srgbClr val="3730A3"/>
                </a:solidFill>
              </a:defRPr>
            </a:pPr>
            <a:r>
              <a:t>💻 Pedagogía 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1162" y="2405076"/>
            <a:ext cx="967800" cy="660551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8</a:t>
            </a:r>
          </a:p>
          <a:p>
            <a:pPr>
              <a:defRPr sz="700" b="1">
                <a:solidFill>
                  <a:srgbClr val="6B21A8"/>
                </a:solidFill>
              </a:defRPr>
            </a:pPr>
            <a:r>
              <a:t>⚖️ Jurídica 3°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54407" y="1191313"/>
            <a:ext cx="1254556" cy="1213763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9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1° 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35694" y="1191313"/>
            <a:ext cx="1218712" cy="1213763"/>
          </a:xfrm>
          <a:prstGeom prst="roundRect">
            <a:avLst/>
          </a:prstGeom>
          <a:solidFill>
            <a:srgbClr val="FFE4E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10</a:t>
            </a:r>
          </a:p>
          <a:p>
            <a:pPr>
              <a:defRPr sz="700" b="1">
                <a:solidFill>
                  <a:srgbClr val="9F1239"/>
                </a:solidFill>
              </a:defRPr>
            </a:pPr>
            <a:r>
              <a:t>🏥 Enfermería 3°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14917" y="2405076"/>
            <a:ext cx="1039489" cy="1527525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11</a:t>
            </a:r>
          </a:p>
          <a:p>
            <a:pPr>
              <a:defRPr sz="700" b="1">
                <a:solidFill>
                  <a:srgbClr val="9A3412"/>
                </a:solidFill>
              </a:defRPr>
            </a:pPr>
            <a:r>
              <a:t>🍳 Cocina 2°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51004" y="1191313"/>
            <a:ext cx="1684690" cy="1213763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Taller / Computacion</a:t>
            </a:r>
          </a:p>
          <a:p>
            <a:pPr>
              <a:defRPr sz="700" b="1">
                <a:solidFill>
                  <a:srgbClr val="3730A3"/>
                </a:solidFill>
              </a:defRPr>
            </a:pPr>
            <a:r>
              <a:t>💻 Informática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8111" y="1191313"/>
            <a:ext cx="2043135" cy="1213763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Cocina / Deposito</a:t>
            </a:r>
          </a:p>
          <a:p>
            <a:pPr>
              <a:defRPr sz="700" b="1">
                <a:solidFill>
                  <a:srgbClr val="9A3412"/>
                </a:solidFill>
              </a:defRPr>
            </a:pPr>
            <a:r>
              <a:t>🍳 Cocina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6823" y="2405076"/>
            <a:ext cx="824423" cy="1197249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16</a:t>
            </a:r>
          </a:p>
          <a:p>
            <a:pPr>
              <a:defRPr sz="700" b="1">
                <a:solidFill>
                  <a:srgbClr val="3730A3"/>
                </a:solidFill>
              </a:defRPr>
            </a:pPr>
            <a:r>
              <a:t>💻 Software 1°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26823" y="3602326"/>
            <a:ext cx="824423" cy="1197249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15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3°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8111" y="2405076"/>
            <a:ext cx="824423" cy="1279818"/>
          </a:xfrm>
          <a:prstGeom prst="roundRect">
            <a:avLst/>
          </a:prstGeom>
          <a:solidFill>
            <a:srgbClr val="FFE4E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17</a:t>
            </a:r>
          </a:p>
          <a:p>
            <a:pPr>
              <a:defRPr sz="700" b="1">
                <a:solidFill>
                  <a:srgbClr val="9F1239"/>
                </a:solidFill>
              </a:defRPr>
            </a:pPr>
            <a:r>
              <a:t>🏥 Enfermería 2°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8111" y="3684895"/>
            <a:ext cx="824423" cy="1238534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18</a:t>
            </a:r>
          </a:p>
          <a:p>
            <a:pPr>
              <a:defRPr sz="700" b="1">
                <a:solidFill>
                  <a:srgbClr val="6B21A8"/>
                </a:solidFill>
              </a:defRPr>
            </a:pPr>
            <a:r>
              <a:t>⚖️ Jurídica 1°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8111" y="4923429"/>
            <a:ext cx="824423" cy="1321103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19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2°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532534" y="5171136"/>
            <a:ext cx="1290401" cy="1073396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20</a:t>
            </a:r>
          </a:p>
          <a:p>
            <a:pPr>
              <a:defRPr sz="700" b="1">
                <a:solidFill>
                  <a:srgbClr val="166534"/>
                </a:solidFill>
              </a:defRPr>
            </a:pPr>
            <a:r>
              <a:t>🏃 Prep. Física 1°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01200" y="960120"/>
            <a:ext cx="21031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800" b="1">
                <a:solidFill>
                  <a:srgbClr val="64748B"/>
                </a:solidFill>
              </a:defRPr>
            </a:pPr>
            <a:r>
              <a:t>ESTADO DEL TURNO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18 Aulas Ocupadas</a:t>
            </a:r>
          </a:p>
          <a:p>
            <a:pPr>
              <a:defRPr sz="900">
                <a:solidFill>
                  <a:srgbClr val="10B981"/>
                </a:solidFill>
              </a:defRPr>
            </a:pPr>
            <a:r>
              <a:t>✨ 3 Aulas Libres / Disponibles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1200" y="228600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REFERENCIAS POR ÁREA</a:t>
            </a:r>
          </a:p>
          <a:p>
            <a:pPr>
              <a:defRPr sz="780" b="1">
                <a:solidFill>
                  <a:srgbClr val="9F1239"/>
                </a:solidFill>
              </a:defRPr>
            </a:pPr>
            <a:r>
              <a:t>🏥 Salud y Enfermería</a:t>
            </a:r>
          </a:p>
          <a:p>
            <a:pPr>
              <a:defRPr sz="780" b="1">
                <a:solidFill>
                  <a:srgbClr val="92400E"/>
                </a:solidFill>
              </a:defRPr>
            </a:pPr>
            <a:r>
              <a:t>🦺 Higiene y Seguridad</a:t>
            </a:r>
          </a:p>
          <a:p>
            <a:pPr>
              <a:defRPr sz="780" b="1">
                <a:solidFill>
                  <a:srgbClr val="3730A3"/>
                </a:solidFill>
              </a:defRPr>
            </a:pPr>
            <a:r>
              <a:t>💻 Software e IA</a:t>
            </a:r>
          </a:p>
          <a:p>
            <a:pPr>
              <a:defRPr sz="780" b="1">
                <a:solidFill>
                  <a:srgbClr val="6B21A8"/>
                </a:solidFill>
              </a:defRPr>
            </a:pPr>
            <a:r>
              <a:t>⚖️ Jurídica y Social</a:t>
            </a:r>
          </a:p>
          <a:p>
            <a:pPr>
              <a:defRPr sz="780" b="1">
                <a:solidFill>
                  <a:srgbClr val="9A3412"/>
                </a:solidFill>
              </a:defRPr>
            </a:pPr>
            <a:r>
              <a:t>🍳 Gastronomía / Cocina</a:t>
            </a:r>
          </a:p>
          <a:p>
            <a:pPr>
              <a:defRPr sz="780" b="1">
                <a:solidFill>
                  <a:srgbClr val="166534"/>
                </a:solidFill>
              </a:defRPr>
            </a:pPr>
            <a:r>
              <a:t>🏃 Preparación Física</a:t>
            </a:r>
          </a:p>
          <a:p>
            <a:pPr>
              <a:defRPr sz="780" b="1">
                <a:solidFill>
                  <a:srgbClr val="155E75"/>
                </a:solidFill>
              </a:defRPr>
            </a:pPr>
            <a:r>
              <a:t>💼 Gestión Financiera</a:t>
            </a:r>
          </a:p>
          <a:p>
            <a:pPr>
              <a:defRPr sz="780" b="1">
                <a:solidFill>
                  <a:srgbClr val="64748B"/>
                </a:solidFill>
              </a:defRPr>
            </a:pPr>
            <a:r>
              <a:t>✨ Aula Disponible (Libre)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01200" y="5349240"/>
            <a:ext cx="2103120" cy="114300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800" b="1">
                <a:solidFill>
                  <a:srgbClr val="4338CA"/>
                </a:solidFill>
              </a:defRPr>
            </a:pPr>
            <a:r>
              <a:t>💡 EDICIÓN DIRECTA</a:t>
            </a:r>
          </a:p>
          <a:p>
            <a:pPr>
              <a:defRPr sz="750">
                <a:solidFill>
                  <a:srgbClr val="0F172A"/>
                </a:solidFill>
              </a:defRPr>
            </a:pPr>
            <a:r>
              <a:t>Haz clic en cualquier aula o pasillo para cambiar texto, tamaño o color directamente en PowerPoint.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315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50">
                <a:solidFill>
                  <a:srgbClr val="FFFFFF"/>
                </a:solidFill>
              </a:defRPr>
            </a:pPr>
            <a:r>
              <a:t>SECCIÓN 1  •  Plano de las Aulas - Turno Tarde (13:00 - 17:30)</a:t>
            </a:r>
          </a:p>
          <a:p>
            <a:pPr>
              <a:defRPr sz="950">
                <a:solidFill>
                  <a:srgbClr val="38BDF8"/>
                </a:solidFill>
              </a:defRPr>
            </a:pPr>
            <a:r>
              <a:t>Asignaciones Oficiales del Turno Vespertino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201168"/>
            <a:ext cx="210312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PROYECTO OFICIAL •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960120"/>
            <a:ext cx="8961120" cy="5532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1246" y="2776637"/>
            <a:ext cx="3871203" cy="1155965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PATIO CENTRAL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51246" y="2405076"/>
            <a:ext cx="3584448" cy="3715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NORTE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2534" y="2405076"/>
            <a:ext cx="394289" cy="27660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OESTE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60117" y="2405076"/>
            <a:ext cx="394289" cy="27660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ESTE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6823" y="4799576"/>
            <a:ext cx="5627583" cy="3715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CIRCULACION SUR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2559" y="3932602"/>
            <a:ext cx="358444" cy="231193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CONECTOR SUR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0602" y="3932602"/>
            <a:ext cx="931956" cy="86697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Rectoria</a:t>
            </a:r>
          </a:p>
          <a:p>
            <a:pPr>
              <a:defRPr sz="700" b="1">
                <a:solidFill>
                  <a:srgbClr val="0F172A"/>
                </a:solidFill>
              </a:defRPr>
            </a:pPr>
            <a:r>
              <a:t>🏛️ Equipo Directivo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1004" y="3932602"/>
            <a:ext cx="896112" cy="86697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Sala Profesores</a:t>
            </a:r>
          </a:p>
          <a:p>
            <a:pPr>
              <a:defRPr sz="700" b="1">
                <a:solidFill>
                  <a:srgbClr val="0F172A"/>
                </a:solidFill>
              </a:defRPr>
            </a:pPr>
            <a:r>
              <a:t>🏛️ Sala de Reuniones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47116" y="3932602"/>
            <a:ext cx="1075334" cy="866974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12</a:t>
            </a:r>
          </a:p>
          <a:p>
            <a:pPr>
              <a:defRPr sz="700" b="1">
                <a:solidFill>
                  <a:srgbClr val="9A3412"/>
                </a:solidFill>
              </a:defRPr>
            </a:pPr>
            <a:r>
              <a:t>🍳 Cocina 1°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0602" y="5171136"/>
            <a:ext cx="931956" cy="10733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Preceptoria</a:t>
            </a:r>
          </a:p>
          <a:p>
            <a:pPr>
              <a:defRPr sz="700" b="1">
                <a:solidFill>
                  <a:srgbClr val="0F172A"/>
                </a:solidFill>
              </a:defRPr>
            </a:pPr>
            <a:r>
              <a:t>🏛️ Preceptoría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51004" y="5171136"/>
            <a:ext cx="681045" cy="1073396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Kiosco</a:t>
            </a:r>
          </a:p>
          <a:p>
            <a:pPr>
              <a:defRPr sz="700" b="1">
                <a:solidFill>
                  <a:srgbClr val="334155"/>
                </a:solidFill>
              </a:defRPr>
            </a:pPr>
            <a:r>
              <a:t>🔧 Kiosco / Buffet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51246" y="3932602"/>
            <a:ext cx="609356" cy="866974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Banos Oeste</a:t>
            </a:r>
          </a:p>
          <a:p>
            <a:pPr>
              <a:defRPr sz="700" b="1">
                <a:solidFill>
                  <a:srgbClr val="334155"/>
                </a:solidFill>
              </a:defRPr>
            </a:pPr>
            <a:r>
              <a:t>🔧 Sanitarios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22935" y="5171136"/>
            <a:ext cx="537667" cy="1073396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Banos Sur</a:t>
            </a:r>
          </a:p>
          <a:p>
            <a:pPr>
              <a:defRPr sz="700" b="1">
                <a:solidFill>
                  <a:srgbClr val="334155"/>
                </a:solidFill>
              </a:defRPr>
            </a:pPr>
            <a:r>
              <a:t>🔧 Sanitarios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2049" y="5171136"/>
            <a:ext cx="681045" cy="1073396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</a:t>
            </a:r>
          </a:p>
          <a:p>
            <a:pPr>
              <a:defRPr sz="700" b="1">
                <a:solidFill>
                  <a:srgbClr val="9A3412"/>
                </a:solidFill>
              </a:defRPr>
            </a:pPr>
            <a:r>
              <a:t>🍳 Cocina 3°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13094" y="5171136"/>
            <a:ext cx="681045" cy="1073396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2</a:t>
            </a:r>
          </a:p>
          <a:p>
            <a:pPr>
              <a:defRPr sz="700" b="1">
                <a:solidFill>
                  <a:srgbClr val="6B21A8"/>
                </a:solidFill>
              </a:defRPr>
            </a:pPr>
            <a:r>
              <a:t>⚖️ Jurídica 2°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94139" y="5171136"/>
            <a:ext cx="681045" cy="1073396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3</a:t>
            </a:r>
          </a:p>
          <a:p>
            <a:pPr>
              <a:defRPr sz="700" b="1">
                <a:solidFill>
                  <a:srgbClr val="6B21A8"/>
                </a:solidFill>
              </a:defRPr>
            </a:pPr>
            <a:r>
              <a:t>⚖️ Periodismo 1°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75184" y="5171136"/>
            <a:ext cx="1433779" cy="1073396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4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1° 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41162" y="4469300"/>
            <a:ext cx="967800" cy="701836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5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1° 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41162" y="3767464"/>
            <a:ext cx="967800" cy="701836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6</a:t>
            </a:r>
          </a:p>
          <a:p>
            <a:pPr>
              <a:defRPr sz="700" b="1">
                <a:solidFill>
                  <a:srgbClr val="166534"/>
                </a:solidFill>
              </a:defRPr>
            </a:pPr>
            <a:r>
              <a:t>🏃 Prep. Física 3°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1162" y="3065628"/>
            <a:ext cx="967800" cy="701836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7</a:t>
            </a:r>
          </a:p>
          <a:p>
            <a:pPr>
              <a:defRPr sz="700" b="1">
                <a:solidFill>
                  <a:srgbClr val="3730A3"/>
                </a:solidFill>
              </a:defRPr>
            </a:pPr>
            <a:r>
              <a:t>💻 Pedagogía 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1162" y="2405076"/>
            <a:ext cx="967800" cy="660551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8</a:t>
            </a:r>
          </a:p>
          <a:p>
            <a:pPr>
              <a:defRPr sz="700" b="1">
                <a:solidFill>
                  <a:srgbClr val="6B21A8"/>
                </a:solidFill>
              </a:defRPr>
            </a:pPr>
            <a:r>
              <a:t>⚖️ Jurídica 3°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54407" y="1191313"/>
            <a:ext cx="1254556" cy="1213763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9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1° 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35694" y="1191313"/>
            <a:ext cx="1218712" cy="1213763"/>
          </a:xfrm>
          <a:prstGeom prst="roundRect">
            <a:avLst/>
          </a:prstGeom>
          <a:solidFill>
            <a:srgbClr val="FFE4E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10</a:t>
            </a:r>
          </a:p>
          <a:p>
            <a:pPr>
              <a:defRPr sz="700" b="1">
                <a:solidFill>
                  <a:srgbClr val="9F1239"/>
                </a:solidFill>
              </a:defRPr>
            </a:pPr>
            <a:r>
              <a:t>🏥 Enfermería 3°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14917" y="2405076"/>
            <a:ext cx="1039489" cy="1527525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11</a:t>
            </a:r>
          </a:p>
          <a:p>
            <a:pPr>
              <a:defRPr sz="700" b="1">
                <a:solidFill>
                  <a:srgbClr val="9A3412"/>
                </a:solidFill>
              </a:defRPr>
            </a:pPr>
            <a:r>
              <a:t>🍳 Cocina 2°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51004" y="1191313"/>
            <a:ext cx="1684690" cy="1213763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Taller / Computacion</a:t>
            </a:r>
          </a:p>
          <a:p>
            <a:pPr>
              <a:defRPr sz="700" b="1">
                <a:solidFill>
                  <a:srgbClr val="3730A3"/>
                </a:solidFill>
              </a:defRPr>
            </a:pPr>
            <a:r>
              <a:t>💻 Informática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8111" y="1191313"/>
            <a:ext cx="2043135" cy="1213763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Cocina / Deposito</a:t>
            </a:r>
          </a:p>
          <a:p>
            <a:pPr>
              <a:defRPr sz="700" b="1">
                <a:solidFill>
                  <a:srgbClr val="9A3412"/>
                </a:solidFill>
              </a:defRPr>
            </a:pPr>
            <a:r>
              <a:t>🍳 Cocina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6823" y="2405076"/>
            <a:ext cx="824423" cy="1197249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16</a:t>
            </a:r>
          </a:p>
          <a:p>
            <a:pPr>
              <a:defRPr sz="700" b="1">
                <a:solidFill>
                  <a:srgbClr val="3730A3"/>
                </a:solidFill>
              </a:defRPr>
            </a:pPr>
            <a:r>
              <a:t>💻 Software 1°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26823" y="3602326"/>
            <a:ext cx="824423" cy="1197249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15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3°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8111" y="2405076"/>
            <a:ext cx="824423" cy="1279818"/>
          </a:xfrm>
          <a:prstGeom prst="roundRect">
            <a:avLst/>
          </a:prstGeom>
          <a:solidFill>
            <a:srgbClr val="FFE4E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17</a:t>
            </a:r>
          </a:p>
          <a:p>
            <a:pPr>
              <a:defRPr sz="700" b="1">
                <a:solidFill>
                  <a:srgbClr val="9F1239"/>
                </a:solidFill>
              </a:defRPr>
            </a:pPr>
            <a:r>
              <a:t>🏥 Enfermería 2°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8111" y="3684895"/>
            <a:ext cx="824423" cy="1238534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18</a:t>
            </a:r>
          </a:p>
          <a:p>
            <a:pPr>
              <a:defRPr sz="700" b="1">
                <a:solidFill>
                  <a:srgbClr val="6B21A8"/>
                </a:solidFill>
              </a:defRPr>
            </a:pPr>
            <a:r>
              <a:t>⚖️ Jurídica 1°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8111" y="4923429"/>
            <a:ext cx="824423" cy="1321103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19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2°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532534" y="5171136"/>
            <a:ext cx="1290401" cy="1073396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20</a:t>
            </a:r>
          </a:p>
          <a:p>
            <a:pPr>
              <a:defRPr sz="700" b="1">
                <a:solidFill>
                  <a:srgbClr val="166534"/>
                </a:solidFill>
              </a:defRPr>
            </a:pPr>
            <a:r>
              <a:t>🏃 Prep. Física 1°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01200" y="960120"/>
            <a:ext cx="21031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800" b="1">
                <a:solidFill>
                  <a:srgbClr val="64748B"/>
                </a:solidFill>
              </a:defRPr>
            </a:pPr>
            <a:r>
              <a:t>ESTADO DEL TURNO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17 Aulas Ocupadas</a:t>
            </a:r>
          </a:p>
          <a:p>
            <a:pPr>
              <a:defRPr sz="900">
                <a:solidFill>
                  <a:srgbClr val="10B981"/>
                </a:solidFill>
              </a:defRPr>
            </a:pPr>
            <a:r>
              <a:t>✨ 4 Aulas Libres / Disponibles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1200" y="228600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REFERENCIAS POR ÁREA</a:t>
            </a:r>
          </a:p>
          <a:p>
            <a:pPr>
              <a:defRPr sz="780" b="1">
                <a:solidFill>
                  <a:srgbClr val="9F1239"/>
                </a:solidFill>
              </a:defRPr>
            </a:pPr>
            <a:r>
              <a:t>🏥 Salud y Enfermería</a:t>
            </a:r>
          </a:p>
          <a:p>
            <a:pPr>
              <a:defRPr sz="780" b="1">
                <a:solidFill>
                  <a:srgbClr val="92400E"/>
                </a:solidFill>
              </a:defRPr>
            </a:pPr>
            <a:r>
              <a:t>🦺 Higiene y Seguridad</a:t>
            </a:r>
          </a:p>
          <a:p>
            <a:pPr>
              <a:defRPr sz="780" b="1">
                <a:solidFill>
                  <a:srgbClr val="3730A3"/>
                </a:solidFill>
              </a:defRPr>
            </a:pPr>
            <a:r>
              <a:t>💻 Software e IA</a:t>
            </a:r>
          </a:p>
          <a:p>
            <a:pPr>
              <a:defRPr sz="780" b="1">
                <a:solidFill>
                  <a:srgbClr val="6B21A8"/>
                </a:solidFill>
              </a:defRPr>
            </a:pPr>
            <a:r>
              <a:t>⚖️ Jurídica y Social</a:t>
            </a:r>
          </a:p>
          <a:p>
            <a:pPr>
              <a:defRPr sz="780" b="1">
                <a:solidFill>
                  <a:srgbClr val="9A3412"/>
                </a:solidFill>
              </a:defRPr>
            </a:pPr>
            <a:r>
              <a:t>🍳 Gastronomía / Cocina</a:t>
            </a:r>
          </a:p>
          <a:p>
            <a:pPr>
              <a:defRPr sz="780" b="1">
                <a:solidFill>
                  <a:srgbClr val="166534"/>
                </a:solidFill>
              </a:defRPr>
            </a:pPr>
            <a:r>
              <a:t>🏃 Preparación Física</a:t>
            </a:r>
          </a:p>
          <a:p>
            <a:pPr>
              <a:defRPr sz="780" b="1">
                <a:solidFill>
                  <a:srgbClr val="155E75"/>
                </a:solidFill>
              </a:defRPr>
            </a:pPr>
            <a:r>
              <a:t>💼 Gestión Financiera</a:t>
            </a:r>
          </a:p>
          <a:p>
            <a:pPr>
              <a:defRPr sz="780" b="1">
                <a:solidFill>
                  <a:srgbClr val="64748B"/>
                </a:solidFill>
              </a:defRPr>
            </a:pPr>
            <a:r>
              <a:t>✨ Aula Disponible (Libre)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01200" y="5349240"/>
            <a:ext cx="2103120" cy="114300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800" b="1">
                <a:solidFill>
                  <a:srgbClr val="4338CA"/>
                </a:solidFill>
              </a:defRPr>
            </a:pPr>
            <a:r>
              <a:t>💡 EDICIÓN DIRECTA</a:t>
            </a:r>
          </a:p>
          <a:p>
            <a:pPr>
              <a:defRPr sz="750">
                <a:solidFill>
                  <a:srgbClr val="0F172A"/>
                </a:solidFill>
              </a:defRPr>
            </a:pPr>
            <a:r>
              <a:t>Haz clic en cualquier aula o pasillo para cambiar texto, tamaño o color directamente en PowerPoint.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315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50">
                <a:solidFill>
                  <a:srgbClr val="FFFFFF"/>
                </a:solidFill>
              </a:defRPr>
            </a:pPr>
            <a:r>
              <a:t>SECCIÓN 1  •  Plano de las Aulas - Turno Noche (18:00 - 22:30)</a:t>
            </a:r>
          </a:p>
          <a:p>
            <a:pPr>
              <a:defRPr sz="950">
                <a:solidFill>
                  <a:srgbClr val="38BDF8"/>
                </a:solidFill>
              </a:defRPr>
            </a:pPr>
            <a:r>
              <a:t>Asignaciones Oficiales del Turno Nocturno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201168"/>
            <a:ext cx="210312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PROYECTO OFICIAL •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960120"/>
            <a:ext cx="8961120" cy="5532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1246" y="2776637"/>
            <a:ext cx="3871203" cy="1155965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PATIO CENTRAL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51246" y="2405076"/>
            <a:ext cx="3584448" cy="3715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NORTE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2534" y="2405076"/>
            <a:ext cx="394289" cy="27660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OESTE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60117" y="2405076"/>
            <a:ext cx="394289" cy="27660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ESTE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6823" y="4799576"/>
            <a:ext cx="5627583" cy="3715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CIRCULACION SUR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2559" y="3932602"/>
            <a:ext cx="358444" cy="231193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CONECTOR SUR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0602" y="3932602"/>
            <a:ext cx="931956" cy="86697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Rectoria</a:t>
            </a:r>
          </a:p>
          <a:p>
            <a:pPr>
              <a:defRPr sz="700" b="1">
                <a:solidFill>
                  <a:srgbClr val="0F172A"/>
                </a:solidFill>
              </a:defRPr>
            </a:pPr>
            <a:r>
              <a:t>🏛️ Equipo Directivo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1004" y="3932602"/>
            <a:ext cx="896112" cy="86697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Sala Profesores</a:t>
            </a:r>
          </a:p>
          <a:p>
            <a:pPr>
              <a:defRPr sz="700" b="1">
                <a:solidFill>
                  <a:srgbClr val="0F172A"/>
                </a:solidFill>
              </a:defRPr>
            </a:pPr>
            <a:r>
              <a:t>🏛️ Sala de Reuniones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47116" y="3932602"/>
            <a:ext cx="1075334" cy="866974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12</a:t>
            </a:r>
          </a:p>
          <a:p>
            <a:pPr>
              <a:defRPr sz="700" b="1">
                <a:solidFill>
                  <a:srgbClr val="9A3412"/>
                </a:solidFill>
              </a:defRPr>
            </a:pPr>
            <a:r>
              <a:t>🍳 Cocina 1°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0602" y="5171136"/>
            <a:ext cx="931956" cy="10733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Preceptoria</a:t>
            </a:r>
          </a:p>
          <a:p>
            <a:pPr>
              <a:defRPr sz="700" b="1">
                <a:solidFill>
                  <a:srgbClr val="0F172A"/>
                </a:solidFill>
              </a:defRPr>
            </a:pPr>
            <a:r>
              <a:t>🏛️ Preceptoría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51004" y="5171136"/>
            <a:ext cx="681045" cy="1073396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Kiosco</a:t>
            </a:r>
          </a:p>
          <a:p>
            <a:pPr>
              <a:defRPr sz="700" b="1">
                <a:solidFill>
                  <a:srgbClr val="334155"/>
                </a:solidFill>
              </a:defRPr>
            </a:pPr>
            <a:r>
              <a:t>🔧 Kiosco / Buffet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51246" y="3932602"/>
            <a:ext cx="609356" cy="866974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Banos Oeste</a:t>
            </a:r>
          </a:p>
          <a:p>
            <a:pPr>
              <a:defRPr sz="700" b="1">
                <a:solidFill>
                  <a:srgbClr val="334155"/>
                </a:solidFill>
              </a:defRPr>
            </a:pPr>
            <a:r>
              <a:t>🔧 Sanitarios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22935" y="5171136"/>
            <a:ext cx="537667" cy="1073396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Banos Sur</a:t>
            </a:r>
          </a:p>
          <a:p>
            <a:pPr>
              <a:defRPr sz="700" b="1">
                <a:solidFill>
                  <a:srgbClr val="334155"/>
                </a:solidFill>
              </a:defRPr>
            </a:pPr>
            <a:r>
              <a:t>🔧 Sanitarios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2049" y="5171136"/>
            <a:ext cx="681045" cy="1073396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</a:t>
            </a:r>
          </a:p>
          <a:p>
            <a:pPr>
              <a:defRPr sz="700" b="1">
                <a:solidFill>
                  <a:srgbClr val="9A3412"/>
                </a:solidFill>
              </a:defRPr>
            </a:pPr>
            <a:r>
              <a:t>🍳 Cocina 3°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13094" y="5171136"/>
            <a:ext cx="681045" cy="1073396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2</a:t>
            </a:r>
          </a:p>
          <a:p>
            <a:pPr>
              <a:defRPr sz="700" b="1">
                <a:solidFill>
                  <a:srgbClr val="6B21A8"/>
                </a:solidFill>
              </a:defRPr>
            </a:pPr>
            <a:r>
              <a:t>⚖️ Jurídica 2°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94139" y="5171136"/>
            <a:ext cx="681045" cy="1073396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3</a:t>
            </a:r>
          </a:p>
          <a:p>
            <a:pPr>
              <a:defRPr sz="700" b="1">
                <a:solidFill>
                  <a:srgbClr val="6B21A8"/>
                </a:solidFill>
              </a:defRPr>
            </a:pPr>
            <a:r>
              <a:t>⚖️ Periodismo 1°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75184" y="5171136"/>
            <a:ext cx="1433779" cy="1073396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4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1° 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41162" y="4469300"/>
            <a:ext cx="967800" cy="701836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5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1° 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41162" y="3767464"/>
            <a:ext cx="967800" cy="701836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6</a:t>
            </a:r>
          </a:p>
          <a:p>
            <a:pPr>
              <a:defRPr sz="700" b="1">
                <a:solidFill>
                  <a:srgbClr val="166534"/>
                </a:solidFill>
              </a:defRPr>
            </a:pPr>
            <a:r>
              <a:t>🏃 Prep. Física 3°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1162" y="3065628"/>
            <a:ext cx="967800" cy="701836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7</a:t>
            </a:r>
          </a:p>
          <a:p>
            <a:pPr>
              <a:defRPr sz="700" b="1">
                <a:solidFill>
                  <a:srgbClr val="3730A3"/>
                </a:solidFill>
              </a:defRPr>
            </a:pPr>
            <a:r>
              <a:t>💻 Pedagogía 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1162" y="2405076"/>
            <a:ext cx="967800" cy="660551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8</a:t>
            </a:r>
          </a:p>
          <a:p>
            <a:pPr>
              <a:defRPr sz="700" b="1">
                <a:solidFill>
                  <a:srgbClr val="6B21A8"/>
                </a:solidFill>
              </a:defRPr>
            </a:pPr>
            <a:r>
              <a:t>⚖️ Jurídica 3°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54407" y="1191313"/>
            <a:ext cx="1254556" cy="1213763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9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1° 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35694" y="1191313"/>
            <a:ext cx="1218712" cy="1213763"/>
          </a:xfrm>
          <a:prstGeom prst="roundRect">
            <a:avLst/>
          </a:prstGeom>
          <a:solidFill>
            <a:srgbClr val="FFE4E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10</a:t>
            </a:r>
          </a:p>
          <a:p>
            <a:pPr>
              <a:defRPr sz="700" b="1">
                <a:solidFill>
                  <a:srgbClr val="9F1239"/>
                </a:solidFill>
              </a:defRPr>
            </a:pPr>
            <a:r>
              <a:t>🏥 Enfermería 3°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14917" y="2405076"/>
            <a:ext cx="1039489" cy="1527525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11</a:t>
            </a:r>
          </a:p>
          <a:p>
            <a:pPr>
              <a:defRPr sz="700" b="1">
                <a:solidFill>
                  <a:srgbClr val="9A3412"/>
                </a:solidFill>
              </a:defRPr>
            </a:pPr>
            <a:r>
              <a:t>🍳 Cocina 2°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51004" y="1191313"/>
            <a:ext cx="1684690" cy="1213763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Taller / Computacion</a:t>
            </a:r>
          </a:p>
          <a:p>
            <a:pPr>
              <a:defRPr sz="700" b="1">
                <a:solidFill>
                  <a:srgbClr val="3730A3"/>
                </a:solidFill>
              </a:defRPr>
            </a:pPr>
            <a:r>
              <a:t>💻 Informática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8111" y="1191313"/>
            <a:ext cx="2043135" cy="1213763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Cocina / Deposito</a:t>
            </a:r>
          </a:p>
          <a:p>
            <a:pPr>
              <a:defRPr sz="700" b="1">
                <a:solidFill>
                  <a:srgbClr val="9A3412"/>
                </a:solidFill>
              </a:defRPr>
            </a:pPr>
            <a:r>
              <a:t>🍳 Cocina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6823" y="2405076"/>
            <a:ext cx="824423" cy="1197249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16</a:t>
            </a:r>
          </a:p>
          <a:p>
            <a:pPr>
              <a:defRPr sz="700" b="1">
                <a:solidFill>
                  <a:srgbClr val="3730A3"/>
                </a:solidFill>
              </a:defRPr>
            </a:pPr>
            <a:r>
              <a:t>💻 Software 1°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26823" y="3602326"/>
            <a:ext cx="824423" cy="1197249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15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3°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8111" y="2405076"/>
            <a:ext cx="824423" cy="1279818"/>
          </a:xfrm>
          <a:prstGeom prst="roundRect">
            <a:avLst/>
          </a:prstGeom>
          <a:solidFill>
            <a:srgbClr val="FFE4E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17</a:t>
            </a:r>
          </a:p>
          <a:p>
            <a:pPr>
              <a:defRPr sz="700" b="1">
                <a:solidFill>
                  <a:srgbClr val="9F1239"/>
                </a:solidFill>
              </a:defRPr>
            </a:pPr>
            <a:r>
              <a:t>🏥 Enfermería 2°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8111" y="3684895"/>
            <a:ext cx="824423" cy="1238534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18</a:t>
            </a:r>
          </a:p>
          <a:p>
            <a:pPr>
              <a:defRPr sz="700" b="1">
                <a:solidFill>
                  <a:srgbClr val="6B21A8"/>
                </a:solidFill>
              </a:defRPr>
            </a:pPr>
            <a:r>
              <a:t>⚖️ Jurídica 1°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8111" y="4923429"/>
            <a:ext cx="824423" cy="1321103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19</a:t>
            </a:r>
          </a:p>
          <a:p>
            <a:pPr>
              <a:defRPr sz="700" b="1">
                <a:solidFill>
                  <a:srgbClr val="92400E"/>
                </a:solidFill>
              </a:defRPr>
            </a:pPr>
            <a:r>
              <a:t>🦺 Hig. y Seg. 2°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532534" y="5171136"/>
            <a:ext cx="1290401" cy="1073396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20</a:t>
            </a:r>
          </a:p>
          <a:p>
            <a:pPr>
              <a:defRPr sz="700" b="1">
                <a:solidFill>
                  <a:srgbClr val="166534"/>
                </a:solidFill>
              </a:defRPr>
            </a:pPr>
            <a:r>
              <a:t>🏃 Prep. Física 1°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01200" y="960120"/>
            <a:ext cx="21031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800" b="1">
                <a:solidFill>
                  <a:srgbClr val="64748B"/>
                </a:solidFill>
              </a:defRPr>
            </a:pPr>
            <a:r>
              <a:t>ESTADO DEL TURNO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17 Aulas Ocupadas</a:t>
            </a:r>
          </a:p>
          <a:p>
            <a:pPr>
              <a:defRPr sz="900">
                <a:solidFill>
                  <a:srgbClr val="10B981"/>
                </a:solidFill>
              </a:defRPr>
            </a:pPr>
            <a:r>
              <a:t>✨ 4 Aulas Libres / Disponibles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1200" y="228600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REFERENCIAS POR ÁREA</a:t>
            </a:r>
          </a:p>
          <a:p>
            <a:pPr>
              <a:defRPr sz="780" b="1">
                <a:solidFill>
                  <a:srgbClr val="9F1239"/>
                </a:solidFill>
              </a:defRPr>
            </a:pPr>
            <a:r>
              <a:t>🏥 Salud y Enfermería</a:t>
            </a:r>
          </a:p>
          <a:p>
            <a:pPr>
              <a:defRPr sz="780" b="1">
                <a:solidFill>
                  <a:srgbClr val="92400E"/>
                </a:solidFill>
              </a:defRPr>
            </a:pPr>
            <a:r>
              <a:t>🦺 Higiene y Seguridad</a:t>
            </a:r>
          </a:p>
          <a:p>
            <a:pPr>
              <a:defRPr sz="780" b="1">
                <a:solidFill>
                  <a:srgbClr val="3730A3"/>
                </a:solidFill>
              </a:defRPr>
            </a:pPr>
            <a:r>
              <a:t>💻 Software e IA</a:t>
            </a:r>
          </a:p>
          <a:p>
            <a:pPr>
              <a:defRPr sz="780" b="1">
                <a:solidFill>
                  <a:srgbClr val="6B21A8"/>
                </a:solidFill>
              </a:defRPr>
            </a:pPr>
            <a:r>
              <a:t>⚖️ Jurídica y Social</a:t>
            </a:r>
          </a:p>
          <a:p>
            <a:pPr>
              <a:defRPr sz="780" b="1">
                <a:solidFill>
                  <a:srgbClr val="9A3412"/>
                </a:solidFill>
              </a:defRPr>
            </a:pPr>
            <a:r>
              <a:t>🍳 Gastronomía / Cocina</a:t>
            </a:r>
          </a:p>
          <a:p>
            <a:pPr>
              <a:defRPr sz="780" b="1">
                <a:solidFill>
                  <a:srgbClr val="166534"/>
                </a:solidFill>
              </a:defRPr>
            </a:pPr>
            <a:r>
              <a:t>🏃 Preparación Física</a:t>
            </a:r>
          </a:p>
          <a:p>
            <a:pPr>
              <a:defRPr sz="780" b="1">
                <a:solidFill>
                  <a:srgbClr val="155E75"/>
                </a:solidFill>
              </a:defRPr>
            </a:pPr>
            <a:r>
              <a:t>💼 Gestión Financiera</a:t>
            </a:r>
          </a:p>
          <a:p>
            <a:pPr>
              <a:defRPr sz="780" b="1">
                <a:solidFill>
                  <a:srgbClr val="64748B"/>
                </a:solidFill>
              </a:defRPr>
            </a:pPr>
            <a:r>
              <a:t>✨ Aula Disponible (Libre)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01200" y="5349240"/>
            <a:ext cx="2103120" cy="114300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800" b="1">
                <a:solidFill>
                  <a:srgbClr val="4338CA"/>
                </a:solidFill>
              </a:defRPr>
            </a:pPr>
            <a:r>
              <a:t>💡 EDICIÓN DIRECTA</a:t>
            </a:r>
          </a:p>
          <a:p>
            <a:pPr>
              <a:defRPr sz="750">
                <a:solidFill>
                  <a:srgbClr val="0F172A"/>
                </a:solidFill>
              </a:defRPr>
            </a:pPr>
            <a:r>
              <a:t>Haz clic en cualquier aula o pasillo para cambiar texto, tamaño o color directamente en PowerPoint.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315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50">
                <a:solidFill>
                  <a:srgbClr val="FFFFFF"/>
                </a:solidFill>
              </a:defRPr>
            </a:pPr>
            <a:r>
              <a:t>SECCIÓN 1  •  Plano de las Aulas - Vista Integral Multiturno</a:t>
            </a:r>
          </a:p>
          <a:p>
            <a:pPr>
              <a:defRPr sz="950">
                <a:solidFill>
                  <a:srgbClr val="38BDF8"/>
                </a:solidFill>
              </a:defRPr>
            </a:pPr>
            <a:r>
              <a:t>Visualización simultánea de Mañana (M), Tarde (T) y Noche (N)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201168"/>
            <a:ext cx="210312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PROYECTO OFICIAL •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960120"/>
            <a:ext cx="8961120" cy="5532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1246" y="2776637"/>
            <a:ext cx="3871203" cy="1155965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PATIO CENTRAL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51246" y="2405076"/>
            <a:ext cx="3584448" cy="37156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NORTE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2534" y="2405076"/>
            <a:ext cx="394289" cy="276606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OESTE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60117" y="2405076"/>
            <a:ext cx="394289" cy="276606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ESTE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6823" y="4799576"/>
            <a:ext cx="5627583" cy="37156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CIRCULACION SUR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2559" y="3932602"/>
            <a:ext cx="358444" cy="231193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CONECTOR SUR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0602" y="3932602"/>
            <a:ext cx="931956" cy="86697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Rectoria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Equipo Directivo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Equipo Directivo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Equipo Directivo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1004" y="3932602"/>
            <a:ext cx="896112" cy="86697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Sala Profesores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Sala de Reuniones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Sala de Reuniones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Sala de Reuniones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47116" y="3932602"/>
            <a:ext cx="1075334" cy="86697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12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Cocina 1°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Cocina 1°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Cocina 1°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0602" y="5171136"/>
            <a:ext cx="931956" cy="10733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Preceptoria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Preceptoría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Preceptoría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Preceptoría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51004" y="5171136"/>
            <a:ext cx="681045" cy="10733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Kiosco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Kiosco / Buffet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Kiosco / Buffet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Kiosco / Buffet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51246" y="3932602"/>
            <a:ext cx="609356" cy="86697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Banos Oeste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Sanitarios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Sanitarios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Sanitarios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22935" y="5171136"/>
            <a:ext cx="537667" cy="10733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Banos Sur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Sanitarios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Sanitarios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Sanitarios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2049" y="5171136"/>
            <a:ext cx="681045" cy="10733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Cocina 3°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Cocina 3°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Cocina 3°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13094" y="5171136"/>
            <a:ext cx="681045" cy="10733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2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Jurídica 2°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Jurídica 2°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Jurídica 2°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94139" y="5171136"/>
            <a:ext cx="681045" cy="10733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3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Periodismo 1°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Periodismo 1°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Periodismo 1°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75184" y="5171136"/>
            <a:ext cx="1433779" cy="10733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4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Hig. y Seg. 1° A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Hig. y Seg. 1° A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Hig. y Seg. 1° 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41162" y="4469300"/>
            <a:ext cx="967800" cy="7018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5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Hig. y Seg. 1° B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Hig. y Seg. 1° B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Hig. y Seg. 1° 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41162" y="3767464"/>
            <a:ext cx="967800" cy="7018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6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Prep. Física 3°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Prep. Física 3°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Prep. Física 3°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1162" y="3065628"/>
            <a:ext cx="967800" cy="7018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7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Pedagogía 7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Pedagogía 7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Pedagogía 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1162" y="2405076"/>
            <a:ext cx="967800" cy="660551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8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Jurídica 3°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Jurídica 3°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Jurídica 3°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54407" y="1191313"/>
            <a:ext cx="1254556" cy="121376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9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Hig. y Seg. 1° C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Hig. y Seg. 1° C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Hig. y Seg. 1° 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35694" y="1191313"/>
            <a:ext cx="1218712" cy="121376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10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Enfermería 3°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Enfermería 3°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Enfermería 3°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14917" y="2405076"/>
            <a:ext cx="1039489" cy="152752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11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Cocina 2°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Cocina 2°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Cocina 2°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51004" y="1191313"/>
            <a:ext cx="1684690" cy="121376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Taller / Computacion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Informática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Informática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Informática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8111" y="1191313"/>
            <a:ext cx="2043135" cy="121376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Cocina / Deposito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Cocina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Cocina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Cocina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6823" y="2405076"/>
            <a:ext cx="824423" cy="119724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16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Software 1°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Software 1°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Software 1°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26823" y="3602326"/>
            <a:ext cx="824423" cy="119724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15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Hig. y Seg. 3°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Hig. y Seg. 3°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Hig. y Seg. 3°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8111" y="2405076"/>
            <a:ext cx="824423" cy="127981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17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Enfermería 2°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Enfermería 2°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Enfermería 2°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8111" y="3684895"/>
            <a:ext cx="824423" cy="123853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18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Jurídica 1°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Jurídica 1°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Jurídica 1°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8111" y="4923429"/>
            <a:ext cx="824423" cy="132110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19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Hig. y Seg. 2°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Hig. y Seg. 2°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Hig. y Seg. 2°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532534" y="5171136"/>
            <a:ext cx="1290401" cy="10733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Aula 20</a:t>
            </a:r>
          </a:p>
          <a:p>
            <a:pPr>
              <a:defRPr sz="650">
                <a:solidFill>
                  <a:srgbClr val="0284C7"/>
                </a:solidFill>
              </a:defRPr>
            </a:pPr>
            <a:r>
              <a:t>M: Prep. Física 1°</a:t>
            </a:r>
          </a:p>
          <a:p>
            <a:pPr>
              <a:defRPr sz="650">
                <a:solidFill>
                  <a:srgbClr val="D97706"/>
                </a:solidFill>
              </a:defRPr>
            </a:pPr>
            <a:r>
              <a:t>T: Prep. Física 1°</a:t>
            </a:r>
          </a:p>
          <a:p>
            <a:pPr>
              <a:defRPr sz="650">
                <a:solidFill>
                  <a:srgbClr val="7C3AED"/>
                </a:solidFill>
              </a:defRPr>
            </a:pPr>
            <a:r>
              <a:t>N: Prep. Física 1°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01200" y="960120"/>
            <a:ext cx="21031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RESUMEN MULTITURNO</a:t>
            </a:r>
          </a:p>
          <a:p>
            <a:pPr>
              <a:defRPr sz="900" b="1">
                <a:solidFill>
                  <a:srgbClr val="0284C7"/>
                </a:solidFill>
              </a:defRPr>
            </a:pPr>
            <a:r>
              <a:t>🌅 Mañana: 18 ocupadas</a:t>
            </a:r>
          </a:p>
          <a:p>
            <a:pPr>
              <a:defRPr sz="900" b="1">
                <a:solidFill>
                  <a:srgbClr val="D97706"/>
                </a:solidFill>
              </a:defRPr>
            </a:pPr>
            <a:r>
              <a:t>☀️ Tarde: 17 ocupadas</a:t>
            </a:r>
          </a:p>
          <a:p>
            <a:pPr>
              <a:defRPr sz="900" b="1">
                <a:solidFill>
                  <a:srgbClr val="7C3AED"/>
                </a:solidFill>
              </a:defRPr>
            </a:pPr>
            <a:r>
              <a:t>🌙 Noche: 17 ocupadas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1200" y="3154680"/>
            <a:ext cx="210312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CAPACIDAD TOTAL</a:t>
            </a:r>
          </a:p>
          <a:p>
            <a:pPr>
              <a:defRPr sz="800">
                <a:solidFill>
                  <a:srgbClr val="0F172A"/>
                </a:solidFill>
              </a:defRPr>
            </a:pPr>
            <a:r>
              <a:t>• 22 Espacios lectivos</a:t>
            </a:r>
          </a:p>
          <a:p>
            <a:pPr>
              <a:defRPr sz="800">
                <a:solidFill>
                  <a:srgbClr val="0F172A"/>
                </a:solidFill>
              </a:defRPr>
            </a:pPr>
            <a:r>
              <a:t>• 5 Pasillos y galerías</a:t>
            </a:r>
          </a:p>
          <a:p>
            <a:pPr>
              <a:defRPr sz="800">
                <a:solidFill>
                  <a:srgbClr val="0F172A"/>
                </a:solidFill>
              </a:defRPr>
            </a:pPr>
            <a:r>
              <a:t>• 1 Patio central abierto</a:t>
            </a:r>
          </a:p>
          <a:p>
            <a:pPr>
              <a:defRPr sz="800">
                <a:solidFill>
                  <a:srgbClr val="0F172A"/>
                </a:solidFill>
              </a:defRPr>
            </a:pPr>
            <a:r>
              <a:t>• 1 Sala de profesores</a:t>
            </a:r>
          </a:p>
          <a:p>
            <a:pPr>
              <a:defRPr sz="800">
                <a:solidFill>
                  <a:srgbClr val="0F172A"/>
                </a:solidFill>
              </a:defRPr>
            </a:pPr>
            <a:r>
              <a:t>• 1 Rectoría / Dirección</a:t>
            </a:r>
          </a:p>
          <a:p>
            <a:pPr>
              <a:defRPr sz="800">
                <a:solidFill>
                  <a:srgbClr val="0F172A"/>
                </a:solidFill>
              </a:defRPr>
            </a:pPr>
            <a:r>
              <a:t>• 1 Taller de cómputo</a:t>
            </a:r>
          </a:p>
          <a:p>
            <a:pPr>
              <a:defRPr sz="800">
                <a:solidFill>
                  <a:srgbClr val="0F172A"/>
                </a:solidFill>
              </a:defRPr>
            </a:pPr>
            <a:r>
              <a:t>• Cobertura rotativa 100%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315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50">
                <a:solidFill>
                  <a:srgbClr val="FFFFFF"/>
                </a:solidFill>
              </a:defRPr>
            </a:pPr>
            <a:r>
              <a:t>SECCIÓN 2  •  Plano de Redes y Telecomunicaciones (Anexo 1 Oficial)</a:t>
            </a:r>
          </a:p>
          <a:p>
            <a:pPr>
              <a:defRPr sz="950">
                <a:solidFill>
                  <a:srgbClr val="38BDF8"/>
                </a:solidFill>
              </a:defRPr>
            </a:pPr>
            <a:r>
              <a:t>16 Access Points Wi-Fi (AP1-AP16)  |  Tendido PoE UTP (Rojo)  |  Backbone Core ISP (Azul)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201168"/>
            <a:ext cx="210312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PROYECTO OFICIAL •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960120"/>
            <a:ext cx="8961120" cy="5532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1246" y="2776637"/>
            <a:ext cx="3871203" cy="1155965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PATIO CENTRAL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51246" y="2405076"/>
            <a:ext cx="3584448" cy="371560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NORTE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2534" y="2405076"/>
            <a:ext cx="394289" cy="2766060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OESTE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60117" y="2405076"/>
            <a:ext cx="394289" cy="2766060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PASILLO ESTE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6823" y="4799576"/>
            <a:ext cx="5627583" cy="371560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CIRCULACION SUR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2559" y="3932602"/>
            <a:ext cx="358444" cy="2311930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CONECTOR SUR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0602" y="3932602"/>
            <a:ext cx="931956" cy="866974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🏛️ Rectoria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1004" y="3932602"/>
            <a:ext cx="896112" cy="866974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🏛️ Sala Profesores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47116" y="3932602"/>
            <a:ext cx="1075334" cy="866974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🍳 Aula 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0602" y="5171136"/>
            <a:ext cx="931956" cy="1073396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🏛️ Preceptoria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51004" y="5171136"/>
            <a:ext cx="681045" cy="1073396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🔧 Kiosco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51246" y="3932602"/>
            <a:ext cx="609356" cy="866974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🔧 Banos Oeste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22935" y="5171136"/>
            <a:ext cx="537667" cy="1073396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🔧 Banos Sur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2049" y="5171136"/>
            <a:ext cx="681045" cy="1073396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🍳 Aula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13094" y="5171136"/>
            <a:ext cx="681045" cy="1073396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⚖️ Aula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94139" y="5171136"/>
            <a:ext cx="681045" cy="1073396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⚖️ Aula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75184" y="5171136"/>
            <a:ext cx="1433779" cy="1073396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🦺 Aula 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41162" y="4469300"/>
            <a:ext cx="967800" cy="701836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🦺 Aula 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41162" y="3767464"/>
            <a:ext cx="967800" cy="701836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🏃 Aula 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1162" y="3065628"/>
            <a:ext cx="967800" cy="701836"/>
          </a:xfrm>
          <a:prstGeom prst="roundRect">
            <a:avLst/>
          </a:prstGeom>
          <a:solidFill>
            <a:srgbClr val="E0E7FF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💻 Aula 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1162" y="2405076"/>
            <a:ext cx="967800" cy="660551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⚖️ Aula 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54407" y="1191313"/>
            <a:ext cx="1254556" cy="1213763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🦺 Aula 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35694" y="1191313"/>
            <a:ext cx="1218712" cy="1213763"/>
          </a:xfrm>
          <a:prstGeom prst="roundRect">
            <a:avLst/>
          </a:prstGeom>
          <a:solidFill>
            <a:srgbClr val="FFE4E6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🏥 Aula 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14917" y="2405076"/>
            <a:ext cx="1039489" cy="1527525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🍳 Aula 11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51004" y="1191313"/>
            <a:ext cx="1684690" cy="1213763"/>
          </a:xfrm>
          <a:prstGeom prst="roundRect">
            <a:avLst/>
          </a:prstGeom>
          <a:solidFill>
            <a:srgbClr val="E0E7FF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💻 Taller / Computacion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8111" y="1191313"/>
            <a:ext cx="2043135" cy="1213763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🍳 Cocina / Deposito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6823" y="2405076"/>
            <a:ext cx="824423" cy="1197249"/>
          </a:xfrm>
          <a:prstGeom prst="roundRect">
            <a:avLst/>
          </a:prstGeom>
          <a:solidFill>
            <a:srgbClr val="E0E7FF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💻 Aula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26823" y="3602326"/>
            <a:ext cx="824423" cy="1197249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🦺 Aula 15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8111" y="2405076"/>
            <a:ext cx="824423" cy="1279818"/>
          </a:xfrm>
          <a:prstGeom prst="roundRect">
            <a:avLst/>
          </a:prstGeom>
          <a:solidFill>
            <a:srgbClr val="FFE4E6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🏥 Aula 17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8111" y="3684895"/>
            <a:ext cx="824423" cy="1238534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⚖️ Aula 18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8111" y="4923429"/>
            <a:ext cx="824423" cy="1321103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🦺 Aula 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532534" y="5171136"/>
            <a:ext cx="1290401" cy="1073396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27432" rIns="36576" wrap="square"/>
          <a:lstStyle/>
          <a:p>
            <a:pPr algn="ctr">
              <a:defRPr sz="850" b="1">
                <a:solidFill>
                  <a:srgbClr val="0F172A"/>
                </a:solidFill>
              </a:defRPr>
            </a:pPr>
            <a:r>
              <a:t>🏃 Aula 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68136" y="3973886"/>
            <a:ext cx="752734" cy="2477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20870" y="3973886"/>
            <a:ext cx="2401580" cy="2477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71781" y="3973886"/>
            <a:ext cx="21506" cy="119724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71781" y="5171136"/>
            <a:ext cx="286755" cy="2477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58537" y="5171136"/>
            <a:ext cx="21506" cy="12385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20870" y="5171136"/>
            <a:ext cx="250911" cy="2477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20870" y="5171136"/>
            <a:ext cx="21506" cy="53669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60602" y="6203248"/>
            <a:ext cx="860267" cy="2477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20870" y="5707834"/>
            <a:ext cx="21506" cy="49541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758537" y="5253705"/>
            <a:ext cx="645200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03738" y="5253705"/>
            <a:ext cx="21506" cy="288991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758537" y="4964714"/>
            <a:ext cx="2724180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622450" y="4964714"/>
            <a:ext cx="21506" cy="57798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54649" y="4469300"/>
            <a:ext cx="21506" cy="495413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82718" y="4964714"/>
            <a:ext cx="179222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61940" y="4964714"/>
            <a:ext cx="21506" cy="3715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82718" y="2405076"/>
            <a:ext cx="21506" cy="255963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82718" y="3891317"/>
            <a:ext cx="394289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73361" y="3106912"/>
            <a:ext cx="609356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82718" y="2983059"/>
            <a:ext cx="681045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482718" y="2405076"/>
            <a:ext cx="107533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590251" y="2157369"/>
            <a:ext cx="21506" cy="24770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798027" y="2405076"/>
            <a:ext cx="1684690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798027" y="1744525"/>
            <a:ext cx="21506" cy="660551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532534" y="4964714"/>
            <a:ext cx="3226003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92559" y="4015171"/>
            <a:ext cx="21506" cy="94954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20870" y="4015171"/>
            <a:ext cx="71688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73847" y="4964714"/>
            <a:ext cx="21506" cy="10733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532534" y="4964714"/>
            <a:ext cx="35844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8378" y="4964714"/>
            <a:ext cx="21506" cy="4128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32534" y="1827094"/>
            <a:ext cx="21506" cy="31376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475183" y="2983059"/>
            <a:ext cx="57351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532534" y="2405076"/>
            <a:ext cx="860267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392801" y="2405076"/>
            <a:ext cx="21506" cy="11146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496689" y="1827094"/>
            <a:ext cx="35844" cy="2477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89400" y="5526183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045293" y="5336274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AP1</a:t>
            </a:r>
          </a:p>
        </p:txBody>
      </p:sp>
      <p:sp>
        <p:nvSpPr>
          <p:cNvPr id="77" name="Oval 76"/>
          <p:cNvSpPr/>
          <p:nvPr/>
        </p:nvSpPr>
        <p:spPr>
          <a:xfrm>
            <a:off x="6608112" y="5526183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6264005" y="5336274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AP2</a:t>
            </a:r>
          </a:p>
        </p:txBody>
      </p:sp>
      <p:sp>
        <p:nvSpPr>
          <p:cNvPr id="79" name="Oval 78"/>
          <p:cNvSpPr/>
          <p:nvPr/>
        </p:nvSpPr>
        <p:spPr>
          <a:xfrm>
            <a:off x="7504224" y="5319760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124273" y="5088567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AP3</a:t>
            </a:r>
          </a:p>
        </p:txBody>
      </p:sp>
      <p:sp>
        <p:nvSpPr>
          <p:cNvPr id="81" name="Oval 80"/>
          <p:cNvSpPr/>
          <p:nvPr/>
        </p:nvSpPr>
        <p:spPr>
          <a:xfrm>
            <a:off x="7862669" y="3874804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7375184" y="3932602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AP4</a:t>
            </a:r>
          </a:p>
        </p:txBody>
      </p:sp>
      <p:sp>
        <p:nvSpPr>
          <p:cNvPr id="83" name="Oval 82"/>
          <p:cNvSpPr/>
          <p:nvPr/>
        </p:nvSpPr>
        <p:spPr>
          <a:xfrm>
            <a:off x="8149425" y="2966545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661940" y="2652783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AP5</a:t>
            </a:r>
          </a:p>
        </p:txBody>
      </p:sp>
      <p:sp>
        <p:nvSpPr>
          <p:cNvPr id="85" name="Oval 84"/>
          <p:cNvSpPr/>
          <p:nvPr/>
        </p:nvSpPr>
        <p:spPr>
          <a:xfrm>
            <a:off x="7575913" y="2140856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7912851" y="2198654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AP6</a:t>
            </a:r>
          </a:p>
        </p:txBody>
      </p:sp>
      <p:sp>
        <p:nvSpPr>
          <p:cNvPr id="87" name="Oval 86"/>
          <p:cNvSpPr/>
          <p:nvPr/>
        </p:nvSpPr>
        <p:spPr>
          <a:xfrm>
            <a:off x="6859024" y="3090399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837517" y="3478473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AP7</a:t>
            </a:r>
          </a:p>
        </p:txBody>
      </p:sp>
      <p:sp>
        <p:nvSpPr>
          <p:cNvPr id="89" name="Oval 88"/>
          <p:cNvSpPr/>
          <p:nvPr/>
        </p:nvSpPr>
        <p:spPr>
          <a:xfrm>
            <a:off x="5640311" y="4452786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726338" y="3684895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AP8</a:t>
            </a:r>
          </a:p>
        </p:txBody>
      </p:sp>
      <p:sp>
        <p:nvSpPr>
          <p:cNvPr id="91" name="Oval 90"/>
          <p:cNvSpPr/>
          <p:nvPr/>
        </p:nvSpPr>
        <p:spPr>
          <a:xfrm>
            <a:off x="5783689" y="1728011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690494" y="1166542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AP9</a:t>
            </a:r>
          </a:p>
        </p:txBody>
      </p:sp>
      <p:sp>
        <p:nvSpPr>
          <p:cNvPr id="93" name="Oval 92"/>
          <p:cNvSpPr/>
          <p:nvPr/>
        </p:nvSpPr>
        <p:spPr>
          <a:xfrm>
            <a:off x="4206532" y="3998657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4292559" y="3519757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AP10</a:t>
            </a:r>
          </a:p>
        </p:txBody>
      </p:sp>
      <p:sp>
        <p:nvSpPr>
          <p:cNvPr id="95" name="Oval 94"/>
          <p:cNvSpPr/>
          <p:nvPr/>
        </p:nvSpPr>
        <p:spPr>
          <a:xfrm>
            <a:off x="2378464" y="3503243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2177735" y="3973886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AP11</a:t>
            </a:r>
          </a:p>
        </p:txBody>
      </p:sp>
      <p:sp>
        <p:nvSpPr>
          <p:cNvPr id="97" name="Oval 96"/>
          <p:cNvSpPr/>
          <p:nvPr/>
        </p:nvSpPr>
        <p:spPr>
          <a:xfrm>
            <a:off x="1482352" y="1810580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1711756" y="1579387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AP12</a:t>
            </a:r>
          </a:p>
        </p:txBody>
      </p:sp>
      <p:sp>
        <p:nvSpPr>
          <p:cNvPr id="99" name="Oval 98"/>
          <p:cNvSpPr/>
          <p:nvPr/>
        </p:nvSpPr>
        <p:spPr>
          <a:xfrm>
            <a:off x="1460845" y="2966545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94867" y="2900490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AP13</a:t>
            </a:r>
          </a:p>
        </p:txBody>
      </p:sp>
      <p:sp>
        <p:nvSpPr>
          <p:cNvPr id="101" name="Oval 100"/>
          <p:cNvSpPr/>
          <p:nvPr/>
        </p:nvSpPr>
        <p:spPr>
          <a:xfrm>
            <a:off x="1554041" y="5361045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994867" y="5501412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AP14</a:t>
            </a:r>
          </a:p>
        </p:txBody>
      </p:sp>
      <p:sp>
        <p:nvSpPr>
          <p:cNvPr id="103" name="Oval 102"/>
          <p:cNvSpPr/>
          <p:nvPr/>
        </p:nvSpPr>
        <p:spPr>
          <a:xfrm>
            <a:off x="3059509" y="5055540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2751246" y="4593154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AP15</a:t>
            </a:r>
          </a:p>
        </p:txBody>
      </p:sp>
      <p:sp>
        <p:nvSpPr>
          <p:cNvPr id="105" name="Oval 104"/>
          <p:cNvSpPr/>
          <p:nvPr/>
        </p:nvSpPr>
        <p:spPr>
          <a:xfrm>
            <a:off x="4206532" y="5691321"/>
            <a:ext cx="157715" cy="181651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4579315" y="6038110"/>
            <a:ext cx="344107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📡 AP16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822935" y="2842692"/>
            <a:ext cx="1290401" cy="875230"/>
          </a:xfrm>
          <a:prstGeom prst="roundRect">
            <a:avLst/>
          </a:prstGeom>
          <a:solidFill>
            <a:srgbClr val="0F172A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ctr">
              <a:defRPr b="1" sz="800">
                <a:solidFill>
                  <a:srgbClr val="38BDF8"/>
                </a:solidFill>
              </a:defRPr>
            </a:pPr>
            <a:r>
              <a:t>NODO CENTRAL RECTORÍA</a:t>
            </a:r>
          </a:p>
          <a:p>
            <a:pPr>
              <a:defRPr b="1" sz="750">
                <a:solidFill>
                  <a:srgbClr val="FFFFFF"/>
                </a:solidFill>
              </a:defRPr>
            </a:pPr>
            <a:r>
              <a:t>🌐 Modem Fibra (ISP WAN)</a:t>
            </a:r>
          </a:p>
          <a:p>
            <a:pPr>
              <a:defRPr b="1" sz="750">
                <a:solidFill>
                  <a:srgbClr val="FFFFFF"/>
                </a:solidFill>
              </a:defRPr>
            </a:pPr>
            <a:r>
              <a:t>🔀 Router Gateway (DHCP / VLANs)</a:t>
            </a:r>
          </a:p>
          <a:p>
            <a:pPr>
              <a:defRPr b="1" sz="750">
                <a:solidFill>
                  <a:srgbClr val="FFFFFF"/>
                </a:solidFill>
              </a:defRPr>
            </a:pPr>
            <a:r>
              <a:t>⚡ Switch 16P (Gestión 1Gbps)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152826" y="2842692"/>
            <a:ext cx="1397934" cy="941286"/>
          </a:xfrm>
          <a:prstGeom prst="roundRect">
            <a:avLst/>
          </a:prstGeom>
          <a:solidFill>
            <a:srgbClr val="0F172A"/>
          </a:solidFill>
          <a:ln w="2286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ctr">
              <a:defRPr b="1" sz="800">
                <a:solidFill>
                  <a:srgbClr val="10B981"/>
                </a:solidFill>
              </a:defRPr>
            </a:pPr>
            <a:r>
              <a:t>SIMBOLOGÍA OFICIAL (ANEXO 1)</a:t>
            </a:r>
          </a:p>
          <a:p>
            <a:pPr>
              <a:defRPr sz="700">
                <a:solidFill>
                  <a:srgbClr val="FFFFFF"/>
                </a:solidFill>
              </a:defRPr>
            </a:pPr>
            <a:r>
              <a:t>📡 Punto Acceso Wi-Fi (AP1 - AP16)</a:t>
            </a:r>
          </a:p>
          <a:p>
            <a:pPr>
              <a:defRPr sz="700">
                <a:solidFill>
                  <a:srgbClr val="FFFFFF"/>
                </a:solidFill>
              </a:defRPr>
            </a:pPr>
            <a:r>
              <a:t>⚡ Switch POE 16P (Alimentación)</a:t>
            </a:r>
          </a:p>
          <a:p>
            <a:pPr>
              <a:defRPr sz="700">
                <a:solidFill>
                  <a:srgbClr val="FFFFFF"/>
                </a:solidFill>
              </a:defRPr>
            </a:pPr>
            <a:r>
              <a:t>🗄️ Rack 42U / 🛡️ Firewall UTM</a:t>
            </a:r>
          </a:p>
          <a:p>
            <a:pPr>
              <a:defRPr sz="700" b="1">
                <a:solidFill>
                  <a:srgbClr val="FCA5A5"/>
                </a:solidFill>
              </a:defRPr>
            </a:pPr>
            <a:r>
              <a:t>🔴 Línea Roja: Tendido PoE UTP</a:t>
            </a:r>
          </a:p>
          <a:p>
            <a:pPr>
              <a:defRPr sz="700" b="1">
                <a:solidFill>
                  <a:srgbClr val="93C5FD"/>
                </a:solidFill>
              </a:defRPr>
            </a:pPr>
            <a:r>
              <a:t>🔵 Línea Azul: Troncal Backbone / ISP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715524" y="5377559"/>
            <a:ext cx="444471" cy="70183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tIns="36576"/>
          <a:lstStyle/>
          <a:p>
            <a:pPr algn="ctr">
              <a:defRPr b="1" sz="700">
                <a:solidFill>
                  <a:srgbClr val="38BDF8"/>
                </a:solidFill>
              </a:defRPr>
            </a:pPr>
            <a:r>
              <a:t>🗄️ RACK 42U</a:t>
            </a:r>
          </a:p>
          <a:p>
            <a:pPr>
              <a:defRPr b="1" sz="650">
                <a:solidFill>
                  <a:srgbClr val="10B981"/>
                </a:solidFill>
              </a:defRPr>
            </a:pPr>
            <a:r>
              <a:t>⚡ Sw POE 16P</a:t>
            </a:r>
          </a:p>
          <a:p>
            <a:pPr>
              <a:defRPr b="1" sz="650">
                <a:solidFill>
                  <a:srgbClr val="FDE68A"/>
                </a:solidFill>
              </a:defRPr>
            </a:pPr>
            <a:r>
              <a:t>🛡️ Firewall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575669" y="5790403"/>
            <a:ext cx="752734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750">
                <a:solidFill>
                  <a:srgbClr val="FFFFFF"/>
                </a:solidFill>
              </a:defRPr>
            </a:pPr>
            <a:r>
              <a:t>🔀 Switch 8P (Precept.)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923178" y="2429847"/>
            <a:ext cx="752734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750">
                <a:solidFill>
                  <a:srgbClr val="FFFFFF"/>
                </a:solidFill>
              </a:defRPr>
            </a:pPr>
            <a:r>
              <a:t>🔀 Switch 16P (Oeste)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443228" y="4551869"/>
            <a:ext cx="716889" cy="16513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750">
                <a:solidFill>
                  <a:srgbClr val="FFFFFF"/>
                </a:solidFill>
              </a:defRPr>
            </a:pPr>
            <a:r>
              <a:t>📶 Router (Wi-Fi 12)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601200" y="960120"/>
            <a:ext cx="210312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800" b="1">
                <a:solidFill>
                  <a:srgbClr val="64748B"/>
                </a:solidFill>
              </a:defRPr>
            </a:pPr>
            <a:r>
              <a:t>EQUIPAMIENTO ACTIVO</a:t>
            </a:r>
          </a:p>
          <a:p>
            <a:pPr>
              <a:defRPr sz="1000" b="1">
                <a:solidFill>
                  <a:srgbClr val="E11D48"/>
                </a:solidFill>
              </a:defRPr>
            </a:pPr>
            <a:r>
              <a:t>📡 16 Access Points (AP)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🗄️ 4 Switches + 1 Rack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🛡️ 1 Firewall Perimetral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601200" y="2743200"/>
            <a:ext cx="21031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800" b="1">
                <a:solidFill>
                  <a:srgbClr val="64748B"/>
                </a:solidFill>
              </a:defRPr>
            </a:pPr>
            <a:r>
              <a:t>CABLEADO ESTRUCTURADO</a:t>
            </a:r>
          </a:p>
          <a:p>
            <a:pPr>
              <a:defRPr sz="750">
                <a:solidFill>
                  <a:srgbClr val="DC2626"/>
                </a:solidFill>
              </a:defRPr>
            </a:pPr>
            <a:r>
              <a:t>■ Tendido Rojo: UTP PoE Cat 6A que alimenta a los 16 APs desde Switch POE Kiosco.</a:t>
            </a:r>
          </a:p>
          <a:p>
            <a:pPr>
              <a:defRPr sz="750">
                <a:solidFill>
                  <a:srgbClr val="2563EB"/>
                </a:solidFill>
              </a:defRPr>
            </a:pPr>
            <a:r>
              <a:t>■ Enlace Azul: Troncal Backbone que une Modem ISP y Router DHCP con Rack Kiosco y Preceptoría.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9601200" y="4983480"/>
            <a:ext cx="2103120" cy="15087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800" b="1">
                <a:solidFill>
                  <a:srgbClr val="166534"/>
                </a:solidFill>
              </a:defRPr>
            </a:pPr>
            <a:r>
              <a:t>📶 COBERTURA 100%</a:t>
            </a:r>
          </a:p>
          <a:p>
            <a:pPr>
              <a:defRPr sz="750">
                <a:solidFill>
                  <a:srgbClr val="0F172A"/>
                </a:solidFill>
              </a:defRPr>
            </a:pPr>
            <a:r>
              <a:t>Distribución uniforme que elimina zonas ciegas en aulas lectivas, dirección y talleres técnicos.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315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50">
                <a:solidFill>
                  <a:srgbClr val="FFFFFF"/>
                </a:solidFill>
              </a:defRPr>
            </a:pPr>
            <a:r>
              <a:t>SECCIÓN 2  •  Inventario Técnico de Telecomunicaciones (16 APs + Equipos Core)</a:t>
            </a:r>
          </a:p>
          <a:p>
            <a:pPr>
              <a:defRPr sz="950">
                <a:solidFill>
                  <a:srgbClr val="38BDF8"/>
                </a:solidFill>
              </a:defRPr>
            </a:pPr>
            <a:r>
              <a:t>Detalle técnico de puntos de red, direccionamiento IP y bocas de switch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201168"/>
            <a:ext cx="210312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PROYECTO OFICIAL •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960120"/>
            <a:ext cx="8961120" cy="5532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1246" y="2776637"/>
            <a:ext cx="3871203" cy="1155965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PATIO CENTRAL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051560"/>
          <a:ext cx="111556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926080"/>
                <a:gridCol w="2011680"/>
                <a:gridCol w="2011680"/>
              </a:tblGrid>
              <a:tr h="311971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Dispositivo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Espacio / Aula Asignada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Boca de Switch / Puerto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Dirección IP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VLAN / Función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Aula 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POE (P1)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Aula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POE (P2)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Aula 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POE (P3)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192.168.100.13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Aula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POE (P4)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Aula 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POE (P5)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Aula 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POE (P6)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Aula 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POE (P7)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192.168.100.17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Aula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POE (P8)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Taller / Computacion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POE (P9)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192.168.100.19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Rectoria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P16 Rectoría (P10)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10 Gestión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Aula 16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P16 Oeste (P11)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Cocina / Deposito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P16 Oeste (P12)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AP13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Aula 17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P16 Oeste (P13)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Aula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POE (P14)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Pasillo Sur (Banos)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POE (P15)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50 Wi-Fi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198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📡 AP16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Preceptoria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Switch P8 Preceptoría (P8)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192.168.100.26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VLAN 10 Gestión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315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50">
                <a:solidFill>
                  <a:srgbClr val="FFFFFF"/>
                </a:solidFill>
              </a:defRPr>
            </a:pPr>
            <a:r>
              <a:t>HERRAMIENTAS  •  Catálogo de Bloques y Símbolos Sueltos (Para Copiar y Pegar)</a:t>
            </a:r>
          </a:p>
          <a:p>
            <a:pPr>
              <a:defRPr sz="950">
                <a:solidFill>
                  <a:srgbClr val="38BDF8"/>
                </a:solidFill>
              </a:defRPr>
            </a:pPr>
            <a:r>
              <a:t>Selecciona, copia (Ctrl+C) y pega (Ctrl+V) cualquiera de estos bloques nativos desbloqueados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201168"/>
            <a:ext cx="210312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PROYECTO OFICIAL •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960120"/>
            <a:ext cx="8961120" cy="5532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1246" y="2776637"/>
            <a:ext cx="3871203" cy="1155965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PATIO CENTRAL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45920"/>
            <a:ext cx="201168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1920240"/>
            <a:ext cx="1463040" cy="100584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7373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Access Point (AP)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Punto Wi-Fi con alimentación PoE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1645920"/>
            <a:ext cx="201168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46120" y="1920240"/>
            <a:ext cx="1463040" cy="1005840"/>
          </a:xfrm>
          <a:prstGeom prst="roundRect">
            <a:avLst/>
          </a:prstGeom>
          <a:solidFill>
            <a:srgbClr val="0284C7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SWITCH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063240"/>
            <a:ext cx="17373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Switch POE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Switch de 16 u 8 bocas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59" y="1645920"/>
            <a:ext cx="201168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0679" y="1920240"/>
            <a:ext cx="1463040" cy="1005840"/>
          </a:xfrm>
          <a:prstGeom prst="roundRect">
            <a:avLst/>
          </a:prstGeom>
          <a:solidFill>
            <a:srgbClr val="6366F1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19" y="3063240"/>
            <a:ext cx="17373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Router / FireWall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Gateway o firewall perimetral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19" y="1645920"/>
            <a:ext cx="201168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35239" y="1920240"/>
            <a:ext cx="1463040" cy="1005840"/>
          </a:xfrm>
          <a:prstGeom prst="roundRect">
            <a:avLst/>
          </a:prstGeom>
          <a:solidFill>
            <a:srgbClr val="10B981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RACK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063240"/>
            <a:ext cx="17373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Rack Mural 12U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Gabinete de comunicaciones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1645920"/>
            <a:ext cx="201168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29800" y="1920240"/>
            <a:ext cx="14630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0F172A"/>
                </a:solidFill>
              </a:defRPr>
            </a:pPr>
            <a:r>
              <a:t>Aula 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3063240"/>
            <a:ext cx="17373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Aula Nueva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Bloque estándar de espacio escolar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029200"/>
            <a:ext cx="10607040" cy="109728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37160"/>
          <a:lstStyle/>
          <a:p>
            <a:pPr algn="ctr">
              <a:defRPr b="1" sz="1000">
                <a:solidFill>
                  <a:srgbClr val="4338CA"/>
                </a:solidFill>
              </a:defRPr>
            </a:pPr>
            <a:r>
              <a:t>📌 CÓMO EDITAR Y CREAR NUEVOS ELEMENTOS: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1. Haz clic sobre cualquiera de los símbolos de arriba y presiona Ctrl + C para copiar.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2. Ve a la diapositiva deseada y presiona Ctrl + V para pegar. Puedes moverlo, cambiarle el texto o modificar el tamaño arrastrando las esquinas.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315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50">
                <a:solidFill>
                  <a:srgbClr val="FFFFFF"/>
                </a:solidFill>
              </a:defRPr>
            </a:pPr>
            <a:r>
              <a:t>SECCIÓN 1  •  Planilla General de Asignaciones y Horarios de Aulas</a:t>
            </a:r>
          </a:p>
          <a:p>
            <a:pPr>
              <a:defRPr sz="950">
                <a:solidFill>
                  <a:srgbClr val="38BDF8"/>
                </a:solidFill>
              </a:defRPr>
            </a:pPr>
            <a:r>
              <a:t>Resumen consolidado de turnos, materias y actividades pedagógicas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201168"/>
            <a:ext cx="210312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PROYECTO OFICIAL •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960120"/>
            <a:ext cx="8961120" cy="5532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1246" y="2776637"/>
            <a:ext cx="3871203" cy="1155965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PATIO CENTRAL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051560"/>
          <a:ext cx="111556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17520"/>
                <a:gridCol w="3017520"/>
                <a:gridCol w="3108960"/>
              </a:tblGrid>
              <a:tr h="279132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Espacio / Dependencia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Turno Mañana (08:00 - 12:30)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Turno Tarde (13:00 - 17:30)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Turno Noche (18:00 - 22:30)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Rectoria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Equipo Directivo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Equipo Directivo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Equipo Directivo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Sala Profesores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Sala de Reuniones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Sala de Reuniones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Sala de Reuniones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Aula 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Cocina 1°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Cocina 1°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Cocina 1°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Preceptoria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Preceptoría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Preceptoría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Preceptoría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Kiosco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Kiosco / Buffet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Kiosco / Buffet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Kiosco / Buffet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Banos Oeste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Sanitarios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Sanitarios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Sanitarios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Banos Sur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Sanitarios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Sanitarios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Sanitarios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Aula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Cocina 3°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Cocina 3°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Cocina 3°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Aula 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Jurídica 2°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Jurídica 2°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Jurídica 2°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Aula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Periodismo 1°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Periodismo 1°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Periodismo 1°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Aula 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Hig. y Seg. 1° 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Hig. y Seg. 1° 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Hig. y Seg. 1° 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Aula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Hig. y Seg. 1°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Hig. y Seg. 1°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Hig. y Seg. 1°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Aula 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Prep. Física 3°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Prep. Física 3°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Prep. Física 3°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Aula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Pedagogía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Pedagogía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Pedagogía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Aula 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Jurídica 3°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Jurídica 3°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Jurídica 3°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Aula 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Hig. y Seg. 1°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Hig. y Seg. 1°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Hig. y Seg. 1°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Aula 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Enfermería 3°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Enfermería 3°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Enfermería 3°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914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Aula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Cocina 2°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Cocina 2°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64748B"/>
                          </a:solidFill>
                        </a:defRPr>
                      </a:pPr>
                      <a:r>
                        <a:t>Cocina 2°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4864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INFORME GENERAL • PLANTA ALTA</a:t>
            </a:r>
          </a:p>
          <a:p>
            <a:pPr algn="ctr">
              <a:defRPr sz="1800" b="1">
                <a:solidFill>
                  <a:srgbClr val="0EA5E9"/>
                </a:solidFill>
                <a:latin typeface="Segoe UI"/>
              </a:defRPr>
            </a:pPr>
            <a:r>
              <a:t>INSTITUTO DE EDUCACIÓN SUPERIOR "NUEVO HORIZONTE"</a:t>
            </a:r>
          </a:p>
          <a:p>
            <a:pPr algn="ctr">
              <a:defRPr sz="1300">
                <a:solidFill>
                  <a:srgbClr val="CBD5E1"/>
                </a:solidFill>
                <a:latin typeface="Segoe UI"/>
              </a:defRPr>
            </a:pPr>
            <a:r>
              <a:t>Relevamiento Arquitectónico, Infraestructura Tecnológica &amp; Red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63040" y="2926080"/>
            <a:ext cx="9265615" cy="2743200"/>
          </a:xfrm>
          <a:prstGeom prst="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74320"/>
          <a:lstStyle/>
          <a:p>
            <a:pPr algn="ctr"/>
          </a:p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UBICACIÓN: </a:t>
            </a:r>
            <a:r>
              <a:rPr b="0">
                <a:solidFill>
                  <a:srgbClr val="FFFFFF"/>
                </a:solidFill>
              </a:rPr>
              <a:t>Manuel Castellano 3323 esq. Ildefonso M. de la Paz, B° 47 Hectáreas, Alto Comedero, San Salvador de Jujuy</a:t>
            </a:r>
          </a:p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CARRERA: </a:t>
            </a:r>
            <a:r>
              <a:rPr b="0">
                <a:solidFill>
                  <a:srgbClr val="FFFFFF"/>
                </a:solidFill>
              </a:rPr>
              <a:t>Tecnicatura Superior en Desarrollo de Software</a:t>
            </a:r>
          </a:p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CURSO &amp; DIVISIÓN: </a:t>
            </a:r>
            <a:r>
              <a:rPr b="0">
                <a:solidFill>
                  <a:srgbClr val="FFFFFF"/>
                </a:solidFill>
              </a:rPr>
              <a:t>3º Año - 1ª División</a:t>
            </a:r>
          </a:p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TURNO: </a:t>
            </a:r>
            <a:r>
              <a:rPr b="0">
                <a:solidFill>
                  <a:srgbClr val="FFFFFF"/>
                </a:solidFill>
              </a:rPr>
              <a:t>Turno Tarde</a:t>
            </a:r>
          </a:p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AÑO LECTIVO: </a:t>
            </a:r>
            <a:r>
              <a:rPr b="0">
                <a:solidFill>
                  <a:srgbClr val="FFFFFF"/>
                </a:solidFill>
              </a:rPr>
              <a:t>2026</a:t>
            </a:r>
          </a:p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ESPACIOS AUDITADOS: </a:t>
            </a:r>
            <a:r>
              <a:rPr b="0">
                <a:solidFill>
                  <a:srgbClr val="FFFFFF"/>
                </a:solidFill>
              </a:rPr>
              <a:t>Gabinete (31 PCs), Aula, Sector Títulos, Sala de Streaming, Sala Previa, Auditorio, Baños y Rack 6U</a:t>
            </a:r>
          </a:p>
        </p:txBody>
      </p:sp>
      <p:pic>
        <p:nvPicPr>
          <p:cNvPr id="5" name="Picture 4" descr="logo_institucion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005840"/>
            <a:ext cx="1280160" cy="22758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PLANTA ALTA  •  Plano Arquitectónico y Distribución Espacial</a:t>
            </a:r>
          </a:p>
          <a:p>
            <a:pPr>
              <a:defRPr sz="1100">
                <a:solidFill>
                  <a:srgbClr val="0EA5E9"/>
                </a:solidFill>
                <a:latin typeface="Segoe UI"/>
              </a:defRPr>
            </a:pPr>
            <a:r>
              <a:t>Organización de formación, gestión académica, producción técnica y eventos (Anexo Oficial IESNH)</a:t>
            </a:r>
          </a:p>
        </p:txBody>
      </p:sp>
      <p:pic>
        <p:nvPicPr>
          <p:cNvPr id="3" name="Picture 2" descr="plano_planta_alta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498079" cy="465209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138160" y="1188720"/>
            <a:ext cx="3657600" cy="5303520"/>
          </a:xfrm>
          <a:prstGeom prst="round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Sectores de Planta Alta</a:t>
            </a:r>
          </a:p>
          <a:p>
            <a:pPr>
              <a:defRPr sz="950" b="1">
                <a:solidFill>
                  <a:srgbClr val="0EA5E9"/>
                </a:solidFill>
                <a:latin typeface="Segoe UI"/>
              </a:defRPr>
            </a:pPr>
            <a:r>
              <a:t>• Gabinete Informático: </a:t>
            </a:r>
            <a:r>
              <a:rPr b="0">
                <a:solidFill>
                  <a:srgbClr val="E2E8F0"/>
                </a:solidFill>
              </a:rPr>
              <a:t>31 PCs en 4 islas dobles, Rack pivotante 6U y Deco 1.</a:t>
            </a:r>
          </a:p>
          <a:p>
            <a:pPr>
              <a:defRPr sz="950" b="1">
                <a:solidFill>
                  <a:srgbClr val="0EA5E9"/>
                </a:solidFill>
                <a:latin typeface="Segoe UI"/>
              </a:defRPr>
            </a:pPr>
            <a:r>
              <a:t>• Aula: </a:t>
            </a:r>
            <a:r>
              <a:rPr b="0">
                <a:solidFill>
                  <a:srgbClr val="E2E8F0"/>
                </a:solidFill>
              </a:rPr>
              <a:t>Capacitaciones y clases académicas con conectividad.</a:t>
            </a:r>
          </a:p>
          <a:p>
            <a:pPr>
              <a:defRPr sz="950" b="1">
                <a:solidFill>
                  <a:srgbClr val="0EA5E9"/>
                </a:solidFill>
                <a:latin typeface="Segoe UI"/>
              </a:defRPr>
            </a:pPr>
            <a:r>
              <a:t>• Sector Títulos: </a:t>
            </a:r>
            <a:r>
              <a:rPr b="0">
                <a:solidFill>
                  <a:srgbClr val="E2E8F0"/>
                </a:solidFill>
              </a:rPr>
              <a:t>Mesa ejecutiva de resguardo y entrega de títulos/certificados.</a:t>
            </a:r>
          </a:p>
          <a:p>
            <a:pPr>
              <a:defRPr sz="950" b="1">
                <a:solidFill>
                  <a:srgbClr val="0EA5E9"/>
                </a:solidFill>
                <a:latin typeface="Segoe UI"/>
              </a:defRPr>
            </a:pPr>
            <a:r>
              <a:t>• Sala de Streaming: </a:t>
            </a:r>
            <a:r>
              <a:rPr b="0">
                <a:solidFill>
                  <a:srgbClr val="E2E8F0"/>
                </a:solidFill>
              </a:rPr>
              <a:t>Producción audiovisual, mesa de 4 conductores y 3 PCs técnicas.</a:t>
            </a:r>
          </a:p>
          <a:p>
            <a:pPr>
              <a:defRPr sz="950" b="1">
                <a:solidFill>
                  <a:srgbClr val="0EA5E9"/>
                </a:solidFill>
                <a:latin typeface="Segoe UI"/>
              </a:defRPr>
            </a:pPr>
            <a:r>
              <a:t>• Escalera Principal: </a:t>
            </a:r>
            <a:r>
              <a:rPr b="0">
                <a:solidFill>
                  <a:srgbClr val="E2E8F0"/>
                </a:solidFill>
              </a:rPr>
              <a:t>Núcleo de circulación vertical conectado a Planta Baja.</a:t>
            </a:r>
          </a:p>
          <a:p>
            <a:pPr>
              <a:defRPr sz="950" b="1">
                <a:solidFill>
                  <a:srgbClr val="0EA5E9"/>
                </a:solidFill>
                <a:latin typeface="Segoe UI"/>
              </a:defRPr>
            </a:pPr>
            <a:r>
              <a:t>• Baños Diferenciados: </a:t>
            </a:r>
            <a:r>
              <a:rPr b="0">
                <a:solidFill>
                  <a:srgbClr val="E2E8F0"/>
                </a:solidFill>
              </a:rPr>
              <a:t>Caballeros y Damas en zona central con Deco n2.</a:t>
            </a:r>
          </a:p>
          <a:p>
            <a:pPr>
              <a:defRPr sz="950" b="1">
                <a:solidFill>
                  <a:srgbClr val="0EA5E9"/>
                </a:solidFill>
                <a:latin typeface="Segoe UI"/>
              </a:defRPr>
            </a:pPr>
            <a:r>
              <a:t>• Sala Previa: </a:t>
            </a:r>
            <a:r>
              <a:rPr b="0">
                <a:solidFill>
                  <a:srgbClr val="E2E8F0"/>
                </a:solidFill>
              </a:rPr>
              <a:t>Recepción antes del auditorio, mesa de reuniones y sillones.</a:t>
            </a:r>
          </a:p>
          <a:p>
            <a:pPr>
              <a:defRPr sz="950" b="1">
                <a:solidFill>
                  <a:srgbClr val="0EA5E9"/>
                </a:solidFill>
                <a:latin typeface="Segoe UI"/>
              </a:defRPr>
            </a:pPr>
            <a:r>
              <a:t>• Auditorio Institucional: </a:t>
            </a:r>
            <a:r>
              <a:rPr b="0">
                <a:solidFill>
                  <a:srgbClr val="E2E8F0"/>
                </a:solidFill>
              </a:rPr>
              <a:t>Gran capacidad, estrado superior, Deco n3 y 64-100 butacas.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GABINETE INFORMÁTICO &amp; RACK DE COMUNICACIONES</a:t>
            </a:r>
          </a:p>
          <a:p>
            <a:pPr>
              <a:defRPr sz="1100">
                <a:solidFill>
                  <a:srgbClr val="0EA5E9"/>
                </a:solidFill>
                <a:latin typeface="Segoe UI"/>
              </a:defRPr>
            </a:pPr>
            <a:r>
              <a:t>31 computadoras operativas, cableado estructurado y Rack Mural SOHO 6U pivotante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Aula Informática / Gabinete (31 Computadoras)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Equipado con 31 computadoras distribuidas en 4 filas de puestos dobles para estudiantes y docentes. Permite desarrollar clases prácticas, evaluaciones y actividades que requieren recursos digitales e Internet.</a:t>
            </a:r>
          </a:p>
        </p:txBody>
      </p:sp>
      <p:pic>
        <p:nvPicPr>
          <p:cNvPr id="4" name="Picture 3" descr="foto_gabinete_31pc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743200"/>
            <a:ext cx="4937760" cy="27765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188720"/>
            <a:ext cx="5486400" cy="5303520"/>
          </a:xfrm>
          <a:prstGeom prst="roundRect">
            <a:avLst/>
          </a:prstGeom>
          <a:solidFill>
            <a:srgbClr val="0F172A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Rack Mural SOHO Pivotante (6U - 19")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• Modelo mural pivotante de 6U con 600 mm de profundidad.</a:t>
            </a:r>
            <a:br/>
            <a:r>
              <a:t>• Módem Huawei OptiXstar HG8145X6-10.</a:t>
            </a:r>
            <a:br/>
            <a:r>
              <a:t>• 2 Switches Hikvision administrables de 24 puertos (48 bocas totales).</a:t>
            </a:r>
            <a:br/>
            <a:r>
              <a:t>• Distribución directa a las 4 islas del gabinete, Streaming y Títulos.</a:t>
            </a:r>
          </a:p>
        </p:txBody>
      </p:sp>
      <p:pic>
        <p:nvPicPr>
          <p:cNvPr id="6" name="Picture 5" descr="foto_rack_comunicaciones_6u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926080"/>
            <a:ext cx="4206240" cy="29995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AUDITORIO INSTITUCIONAL &amp; SALA PREVIA</a:t>
            </a:r>
          </a:p>
          <a:p>
            <a:pPr>
              <a:defRPr sz="1100">
                <a:solidFill>
                  <a:srgbClr val="0EA5E9"/>
                </a:solidFill>
                <a:latin typeface="Segoe UI"/>
              </a:defRPr>
            </a:pPr>
            <a:r>
              <a:t>Espacio principal de conferencias y actos protocolares con sala de recepción ejecutiva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6949440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Auditorio Institucional (19,5 m × 13,65 m • Altura 3,95 m)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Espacio de mayor convocatoria para conferencias, exposiciones, capacitaciones y proyecciones. Disposición en 2 bloques de butacas con pasillo central hacia el estrado y punto Wi-Fi Deco n3.</a:t>
            </a:r>
          </a:p>
        </p:txBody>
      </p:sp>
      <p:pic>
        <p:nvPicPr>
          <p:cNvPr id="4" name="Picture 3" descr="foto_auditori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3108960" cy="1750077"/>
          </a:xfrm>
          <a:prstGeom prst="rect">
            <a:avLst/>
          </a:prstGeom>
        </p:spPr>
      </p:pic>
      <p:pic>
        <p:nvPicPr>
          <p:cNvPr id="5" name="Picture 4" descr="foto_auditori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2651760"/>
            <a:ext cx="3108960" cy="174778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80960" y="1188720"/>
            <a:ext cx="4023360" cy="5303520"/>
          </a:xfrm>
          <a:prstGeom prst="roundRect">
            <a:avLst/>
          </a:prstGeom>
          <a:solidFill>
            <a:srgbClr val="0F172A"/>
          </a:solidFill>
          <a:ln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Sala Previa &amp; Sanitarios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• Sala Previa:</a:t>
            </a:r>
            <a:br/>
            <a:r>
              <a:t>Recepción y preparación antes del ingreso al auditorio. Cuenta con mesa de reuniones ejecutiva, sillas y sillones para coordinación y entrevistas.</a:t>
            </a:r>
            <a:br/>
            <a:br/>
            <a:r>
              <a:t>• Baños Diferenciados:</a:t>
            </a:r>
            <a:br/>
            <a:r>
              <a:t>Sanitarios para Damas y Caballeros en ubicación central de fácil acceso desde Gabinete, Auditorio y Escalera.</a:t>
            </a:r>
            <a:br/>
            <a:br/>
            <a:r>
              <a:t>• Conectividad:</a:t>
            </a:r>
            <a:br/>
            <a:r>
              <a:t>Punto Wi-Fi Mesh Deco n2 sobre el pasillo de acceso.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SALA DE STREAMING &amp; SECTOR DE TÍTULOS</a:t>
            </a:r>
          </a:p>
          <a:p>
            <a:pPr>
              <a:defRPr sz="1100">
                <a:solidFill>
                  <a:srgbClr val="0EA5E9"/>
                </a:solidFill>
                <a:latin typeface="Segoe UI"/>
              </a:defRPr>
            </a:pPr>
            <a:r>
              <a:t>Centro multimedia de transmisión institucional y área administrativa de documentación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6949440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Sala de Streaming / Transmisión IESNH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Preparada para producción de contenidos, streaming en vivo, clases magistrales y podcasts. Mesa curvada frontal para 4 conductores con micrófonos articulados y puesto técnico con 3 PCs en red cableada.</a:t>
            </a:r>
          </a:p>
        </p:txBody>
      </p:sp>
      <p:pic>
        <p:nvPicPr>
          <p:cNvPr id="4" name="Picture 3" descr="foto_streaming_mesa_conductore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3108960" cy="1746516"/>
          </a:xfrm>
          <a:prstGeom prst="rect">
            <a:avLst/>
          </a:prstGeom>
        </p:spPr>
      </p:pic>
      <p:pic>
        <p:nvPicPr>
          <p:cNvPr id="5" name="Picture 4" descr="foto_streaming_puesto_tecnic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2651760"/>
            <a:ext cx="3108960" cy="17523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80960" y="1188720"/>
            <a:ext cx="4023360" cy="530352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Sector Títulos &amp; Aula Académica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• Sector de Títulos:</a:t>
            </a:r>
            <a:br/>
            <a:r>
              <a:t>Espacio destinado a la gestión académica, organización, entrega y resguardo de títulos y certificados analíticos. Mesa de reuniones ejecutiva para 10 personas conectada a la red.</a:t>
            </a:r>
            <a:br/>
            <a:br/>
            <a:r>
              <a:t>• Aula Académica (AuLA):</a:t>
            </a:r>
            <a:br/>
            <a:r>
              <a:t>Espacio equipado para el dictado de clases y capacitaciones teóricas con cobertura de red completa.</a:t>
            </a:r>
          </a:p>
        </p:txBody>
      </p:sp>
      <p:pic>
        <p:nvPicPr>
          <p:cNvPr id="7" name="Picture 6" descr="foto_aula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3474720"/>
            <a:ext cx="329184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ARQUITECTURA DE TELECOMUNICACIONES  •  Planta Alta</a:t>
            </a:r>
          </a:p>
          <a:p>
            <a:pPr>
              <a:defRPr sz="1100">
                <a:solidFill>
                  <a:srgbClr val="0EA5E9"/>
                </a:solidFill>
                <a:latin typeface="Segoe UI"/>
              </a:defRPr>
            </a:pPr>
            <a:r>
              <a:t>Topología cableada Cat6, Rack 48P Hikvision, módem Huawei y cobertura Wi-Fi Mesh Decos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1277295" cy="5303520"/>
          </a:xfrm>
          <a:prstGeom prst="roundRect">
            <a:avLst/>
          </a:prstGeom>
          <a:solidFill>
            <a:srgbClr val="0F172A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Resumen de la Infraestructura de Conectividad (Planta Alta)</a:t>
            </a:r>
          </a:p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• Centro de Estrella (Rack Mural 6U): </a:t>
            </a:r>
            <a:r>
              <a:rPr b="0">
                <a:solidFill>
                  <a:srgbClr val="E2E8F0"/>
                </a:solidFill>
              </a:rPr>
              <a:t>Ubicado en la esquina inferior izquierda del Gabinete. Aloja el Módem Huawei OptiXstar HG8145X6-10 y 2 switches Hikvision administrables de 24 puertos (48 puertos totales).</a:t>
            </a:r>
          </a:p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• Tendido Cableado Estructurado (Líneas Rojas): </a:t>
            </a:r>
            <a:r>
              <a:rPr b="0">
                <a:solidFill>
                  <a:srgbClr val="E2E8F0"/>
                </a:solidFill>
              </a:rPr>
              <a:t>Canalización perimetral y bajadas directas a las 4 islas del Gabinete (31 PCs cableadas), derivación hacia Sector Títulos (mesa directiva) y derivación hacia Sala de Streaming (3 PCs técnicas).</a:t>
            </a:r>
          </a:p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• Red Inalámbrica Mesh (Deco): </a:t>
            </a:r>
            <a:r>
              <a:rPr b="0">
                <a:solidFill>
                  <a:srgbClr val="E2E8F0"/>
                </a:solidFill>
              </a:rPr>
              <a:t>Tres nodos estratégicos para roaming ininterrumpido:
   • Deco 1: En Gabinete Informático (pared norte).
   • Deco n2: En Pasillo central frente a sanitarios y acceso a escalera.
   • Deco n3: En Auditorio Institucional (esquina superior izquierda junto al escenario).</a:t>
            </a:r>
          </a:p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• Enlace Troncal a Planta Baja: </a:t>
            </a:r>
            <a:r>
              <a:rPr b="0">
                <a:solidFill>
                  <a:srgbClr val="E2E8F0"/>
                </a:solidFill>
              </a:rPr>
              <a:t>Tirada vertical a través del núcleo de escalera conectando con el Rack Central de Planta Baja (Kiosco / Rectoría).</a:t>
            </a:r>
          </a:p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• Capacidad Total: </a:t>
            </a:r>
            <a:r>
              <a:rPr b="0">
                <a:solidFill>
                  <a:srgbClr val="E2E8F0"/>
                </a:solidFill>
              </a:rPr>
              <a:t>Soporte para más de 150 dispositivos concurrentes entre red cableada y Wi-Fi.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