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PLAN DE GESTIÓN INSTITUCIONAL Y TELECOMUNICACIONES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Relevamiento Arquitectónico de Aulas y Red Wi-Fi de Alta Densidad (AP1 a AP16)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Ciclo Lectivo Oficial • Anexo 1: Plano de Edificio • Diapositivas 100% Editables y Desbloqueadas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49377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🏛️ SECCIÓN 1: PLANO DE AULAS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22 Aulas y dependencias administrativas totalmente mapeadas.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Turno Mañana, Turno Tarde y Turno Noche con carreras y materias.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Codificación por color según especialidad (Salud, Higiene, Software, etc.).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291840"/>
            <a:ext cx="49377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E11D48"/>
                </a:solidFill>
              </a:defRPr>
            </a:pPr>
            <a:r>
              <a:t>🔌 SECCIÓN 2: PLANO DE REDES (OFICIAL)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16 Access Points Wi-Fi (AP1 a AP16) con alimentación PoE.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Rack Central, FireWall y Switch POE P16 ubicados en Kiosco.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Modem ISP, Router DHCP y Switch P16 en Rectoría con Backbone Azul.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Ministerio de Educación  •  Dirección de Tecnología e Infraestructura Edilicia  •  Documento Técnico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50">
                <a:solidFill>
                  <a:srgbClr val="FFFFFF"/>
                </a:solidFill>
              </a:defRPr>
            </a:pPr>
            <a:r>
              <a:t>SECCIÓN 1  •  Plano de las Aulas - Turno Mañana (08:00 - 12:30)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Asignaciones Oficiales del Turno Matutino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01168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PROYECTO OFICIAL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8961120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1246" y="2776637"/>
            <a:ext cx="3871203" cy="115596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PATIO CENTRAL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1246" y="2405076"/>
            <a:ext cx="3584448" cy="37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NORTE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2534" y="2405076"/>
            <a:ext cx="394289" cy="27660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OESTE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0117" y="2405076"/>
            <a:ext cx="394289" cy="27660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ESTE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6823" y="4799576"/>
            <a:ext cx="5627583" cy="37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CIRCULACION SUR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559" y="3932602"/>
            <a:ext cx="358444" cy="231193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CONECTOR SUR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0602" y="3932602"/>
            <a:ext cx="931956" cy="86697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Rectoria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Equipo Directivo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1004" y="3932602"/>
            <a:ext cx="896112" cy="86697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Sala Profesores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Sala de Reuniones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7116" y="3932602"/>
            <a:ext cx="1075334" cy="866974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12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1°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0602" y="5171136"/>
            <a:ext cx="931956" cy="107339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Preceptoria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Preceptoría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1004" y="5171136"/>
            <a:ext cx="681045" cy="1073396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Kiosco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Kiosco / Buffet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1246" y="3932602"/>
            <a:ext cx="609356" cy="86697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Banos Oeste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Sanitarios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2935" y="5171136"/>
            <a:ext cx="537667" cy="1073396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Banos Sur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Sanitarios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2049" y="5171136"/>
            <a:ext cx="681045" cy="107339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3°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3094" y="5171136"/>
            <a:ext cx="681045" cy="1073396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2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2°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94139" y="5171136"/>
            <a:ext cx="681045" cy="1073396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3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Periodismo 1°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5184" y="5171136"/>
            <a:ext cx="1433779" cy="1073396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4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1162" y="4469300"/>
            <a:ext cx="967800" cy="701836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5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1162" y="3767464"/>
            <a:ext cx="967800" cy="70183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6</a:t>
            </a:r>
          </a:p>
          <a:p>
            <a:pPr>
              <a:defRPr sz="700" b="1">
                <a:solidFill>
                  <a:srgbClr val="166534"/>
                </a:solidFill>
              </a:defRPr>
            </a:pPr>
            <a:r>
              <a:t>🏃 Prep. Física 3°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1162" y="3065628"/>
            <a:ext cx="967800" cy="701836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7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Pedagogía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1162" y="2405076"/>
            <a:ext cx="967800" cy="660551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8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3°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4407" y="1191313"/>
            <a:ext cx="1254556" cy="1213763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9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5694" y="1191313"/>
            <a:ext cx="1218712" cy="1213763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10</a:t>
            </a:r>
          </a:p>
          <a:p>
            <a:pPr>
              <a:defRPr sz="700" b="1">
                <a:solidFill>
                  <a:srgbClr val="9F1239"/>
                </a:solidFill>
              </a:defRPr>
            </a:pPr>
            <a:r>
              <a:t>🏥 Enfermería 3°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4917" y="2405076"/>
            <a:ext cx="1039489" cy="1527525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11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2°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1004" y="1191313"/>
            <a:ext cx="1684690" cy="1213763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Taller / Computacion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Informática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111" y="1191313"/>
            <a:ext cx="2043135" cy="1213763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Cocina / Deposito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6823" y="2405076"/>
            <a:ext cx="824423" cy="1197249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16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Software 1°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6823" y="3602326"/>
            <a:ext cx="824423" cy="1197249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15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3°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111" y="2405076"/>
            <a:ext cx="824423" cy="1279818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17</a:t>
            </a:r>
          </a:p>
          <a:p>
            <a:pPr>
              <a:defRPr sz="700" b="1">
                <a:solidFill>
                  <a:srgbClr val="9F1239"/>
                </a:solidFill>
              </a:defRPr>
            </a:pPr>
            <a:r>
              <a:t>🏥 Enfermería 2°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111" y="3684895"/>
            <a:ext cx="824423" cy="1238534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18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1°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111" y="4923429"/>
            <a:ext cx="824423" cy="1321103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19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2°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32534" y="5171136"/>
            <a:ext cx="1290401" cy="107339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20</a:t>
            </a:r>
          </a:p>
          <a:p>
            <a:pPr>
              <a:defRPr sz="700" b="1">
                <a:solidFill>
                  <a:srgbClr val="166534"/>
                </a:solidFill>
              </a:defRPr>
            </a:pPr>
            <a:r>
              <a:t>🏃 Prep. Física 1°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96012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ESTADO DEL TURNO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18 Aulas Ocupadas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✨ 3 Aulas Libres / Disponibles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22860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REFERENCIAS POR ÁREA</a:t>
            </a:r>
          </a:p>
          <a:p>
            <a:pPr>
              <a:defRPr sz="780" b="1">
                <a:solidFill>
                  <a:srgbClr val="9F1239"/>
                </a:solidFill>
              </a:defRPr>
            </a:pPr>
            <a:r>
              <a:t>🏥 Salud y Enfermería</a:t>
            </a:r>
          </a:p>
          <a:p>
            <a:pPr>
              <a:defRPr sz="780" b="1">
                <a:solidFill>
                  <a:srgbClr val="92400E"/>
                </a:solidFill>
              </a:defRPr>
            </a:pPr>
            <a:r>
              <a:t>🦺 Higiene y Seguridad</a:t>
            </a:r>
          </a:p>
          <a:p>
            <a:pPr>
              <a:defRPr sz="780" b="1">
                <a:solidFill>
                  <a:srgbClr val="3730A3"/>
                </a:solidFill>
              </a:defRPr>
            </a:pPr>
            <a:r>
              <a:t>💻 Software e IA</a:t>
            </a:r>
          </a:p>
          <a:p>
            <a:pPr>
              <a:defRPr sz="780" b="1">
                <a:solidFill>
                  <a:srgbClr val="6B21A8"/>
                </a:solidFill>
              </a:defRPr>
            </a:pPr>
            <a:r>
              <a:t>⚖️ Jurídica y Social</a:t>
            </a:r>
          </a:p>
          <a:p>
            <a:pPr>
              <a:defRPr sz="780" b="1">
                <a:solidFill>
                  <a:srgbClr val="9A3412"/>
                </a:solidFill>
              </a:defRPr>
            </a:pPr>
            <a:r>
              <a:t>🍳 Gastronomía / Cocina</a:t>
            </a:r>
          </a:p>
          <a:p>
            <a:pPr>
              <a:defRPr sz="780" b="1">
                <a:solidFill>
                  <a:srgbClr val="166534"/>
                </a:solidFill>
              </a:defRPr>
            </a:pPr>
            <a:r>
              <a:t>🏃 Preparación Física</a:t>
            </a:r>
          </a:p>
          <a:p>
            <a:pPr>
              <a:defRPr sz="780" b="1">
                <a:solidFill>
                  <a:srgbClr val="155E75"/>
                </a:solidFill>
              </a:defRPr>
            </a:pPr>
            <a:r>
              <a:t>💼 Gestión Financiera</a:t>
            </a:r>
          </a:p>
          <a:p>
            <a:pPr>
              <a:defRPr sz="780" b="1">
                <a:solidFill>
                  <a:srgbClr val="64748B"/>
                </a:solidFill>
              </a:defRPr>
            </a:pPr>
            <a:r>
              <a:t>✨ Aula Disponible (Libre)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5349240"/>
            <a:ext cx="2103120" cy="11430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4338CA"/>
                </a:solidFill>
              </a:defRPr>
            </a:pPr>
            <a:r>
              <a:t>💡 EDICIÓN DIRECTA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Haz clic en cualquier aula o pasillo para cambiar texto, tamaño o color directamente en PowerPoint.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50">
                <a:solidFill>
                  <a:srgbClr val="FFFFFF"/>
                </a:solidFill>
              </a:defRPr>
            </a:pPr>
            <a:r>
              <a:t>SECCIÓN 1  •  Plano de las Aulas - Turno Tarde (13:00 - 17:30)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Asignaciones Oficiales del Turno Vespertino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01168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PROYECTO OFICIAL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8961120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1246" y="2776637"/>
            <a:ext cx="3871203" cy="115596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PATIO CENTRAL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1246" y="2405076"/>
            <a:ext cx="3584448" cy="37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NORTE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2534" y="2405076"/>
            <a:ext cx="394289" cy="27660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OESTE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0117" y="2405076"/>
            <a:ext cx="394289" cy="27660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ESTE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6823" y="4799576"/>
            <a:ext cx="5627583" cy="37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CIRCULACION SUR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559" y="3932602"/>
            <a:ext cx="358444" cy="231193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CONECTOR SUR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0602" y="3932602"/>
            <a:ext cx="931956" cy="86697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Rectoria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Equipo Directivo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1004" y="3932602"/>
            <a:ext cx="896112" cy="86697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Sala Profesores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Sala de Reuniones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7116" y="3932602"/>
            <a:ext cx="1075334" cy="866974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12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1°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0602" y="5171136"/>
            <a:ext cx="931956" cy="107339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Preceptoria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Preceptoría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1004" y="5171136"/>
            <a:ext cx="681045" cy="1073396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Kiosco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Kiosco / Buffet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1246" y="3932602"/>
            <a:ext cx="609356" cy="86697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Banos Oeste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Sanitarios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2935" y="5171136"/>
            <a:ext cx="537667" cy="1073396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Banos Sur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Sanitarios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2049" y="5171136"/>
            <a:ext cx="681045" cy="107339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3°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3094" y="5171136"/>
            <a:ext cx="681045" cy="1073396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2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2°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94139" y="5171136"/>
            <a:ext cx="681045" cy="1073396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3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Periodismo 1°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5184" y="5171136"/>
            <a:ext cx="1433779" cy="1073396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4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1162" y="4469300"/>
            <a:ext cx="967800" cy="701836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5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1162" y="3767464"/>
            <a:ext cx="967800" cy="70183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6</a:t>
            </a:r>
          </a:p>
          <a:p>
            <a:pPr>
              <a:defRPr sz="700" b="1">
                <a:solidFill>
                  <a:srgbClr val="166534"/>
                </a:solidFill>
              </a:defRPr>
            </a:pPr>
            <a:r>
              <a:t>🏃 Prep. Física 3°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1162" y="3065628"/>
            <a:ext cx="967800" cy="701836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7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Pedagogía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1162" y="2405076"/>
            <a:ext cx="967800" cy="660551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8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3°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4407" y="1191313"/>
            <a:ext cx="1254556" cy="1213763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9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5694" y="1191313"/>
            <a:ext cx="1218712" cy="1213763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10</a:t>
            </a:r>
          </a:p>
          <a:p>
            <a:pPr>
              <a:defRPr sz="700" b="1">
                <a:solidFill>
                  <a:srgbClr val="9F1239"/>
                </a:solidFill>
              </a:defRPr>
            </a:pPr>
            <a:r>
              <a:t>🏥 Enfermería 3°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4917" y="2405076"/>
            <a:ext cx="1039489" cy="1527525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11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2°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1004" y="1191313"/>
            <a:ext cx="1684690" cy="1213763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Taller / Computacion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Informática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111" y="1191313"/>
            <a:ext cx="2043135" cy="1213763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Cocina / Deposito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6823" y="2405076"/>
            <a:ext cx="824423" cy="1197249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16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Software 1°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6823" y="3602326"/>
            <a:ext cx="824423" cy="1197249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15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3°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111" y="2405076"/>
            <a:ext cx="824423" cy="1279818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17</a:t>
            </a:r>
          </a:p>
          <a:p>
            <a:pPr>
              <a:defRPr sz="700" b="1">
                <a:solidFill>
                  <a:srgbClr val="9F1239"/>
                </a:solidFill>
              </a:defRPr>
            </a:pPr>
            <a:r>
              <a:t>🏥 Enfermería 2°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111" y="3684895"/>
            <a:ext cx="824423" cy="1238534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18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1°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111" y="4923429"/>
            <a:ext cx="824423" cy="1321103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19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2°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32534" y="5171136"/>
            <a:ext cx="1290401" cy="107339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20</a:t>
            </a:r>
          </a:p>
          <a:p>
            <a:pPr>
              <a:defRPr sz="700" b="1">
                <a:solidFill>
                  <a:srgbClr val="166534"/>
                </a:solidFill>
              </a:defRPr>
            </a:pPr>
            <a:r>
              <a:t>🏃 Prep. Física 1°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96012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ESTADO DEL TURNO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17 Aulas Ocupadas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✨ 4 Aulas Libres / Disponibles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22860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REFERENCIAS POR ÁREA</a:t>
            </a:r>
          </a:p>
          <a:p>
            <a:pPr>
              <a:defRPr sz="780" b="1">
                <a:solidFill>
                  <a:srgbClr val="9F1239"/>
                </a:solidFill>
              </a:defRPr>
            </a:pPr>
            <a:r>
              <a:t>🏥 Salud y Enfermería</a:t>
            </a:r>
          </a:p>
          <a:p>
            <a:pPr>
              <a:defRPr sz="780" b="1">
                <a:solidFill>
                  <a:srgbClr val="92400E"/>
                </a:solidFill>
              </a:defRPr>
            </a:pPr>
            <a:r>
              <a:t>🦺 Higiene y Seguridad</a:t>
            </a:r>
          </a:p>
          <a:p>
            <a:pPr>
              <a:defRPr sz="780" b="1">
                <a:solidFill>
                  <a:srgbClr val="3730A3"/>
                </a:solidFill>
              </a:defRPr>
            </a:pPr>
            <a:r>
              <a:t>💻 Software e IA</a:t>
            </a:r>
          </a:p>
          <a:p>
            <a:pPr>
              <a:defRPr sz="780" b="1">
                <a:solidFill>
                  <a:srgbClr val="6B21A8"/>
                </a:solidFill>
              </a:defRPr>
            </a:pPr>
            <a:r>
              <a:t>⚖️ Jurídica y Social</a:t>
            </a:r>
          </a:p>
          <a:p>
            <a:pPr>
              <a:defRPr sz="780" b="1">
                <a:solidFill>
                  <a:srgbClr val="9A3412"/>
                </a:solidFill>
              </a:defRPr>
            </a:pPr>
            <a:r>
              <a:t>🍳 Gastronomía / Cocina</a:t>
            </a:r>
          </a:p>
          <a:p>
            <a:pPr>
              <a:defRPr sz="780" b="1">
                <a:solidFill>
                  <a:srgbClr val="166534"/>
                </a:solidFill>
              </a:defRPr>
            </a:pPr>
            <a:r>
              <a:t>🏃 Preparación Física</a:t>
            </a:r>
          </a:p>
          <a:p>
            <a:pPr>
              <a:defRPr sz="780" b="1">
                <a:solidFill>
                  <a:srgbClr val="155E75"/>
                </a:solidFill>
              </a:defRPr>
            </a:pPr>
            <a:r>
              <a:t>💼 Gestión Financiera</a:t>
            </a:r>
          </a:p>
          <a:p>
            <a:pPr>
              <a:defRPr sz="780" b="1">
                <a:solidFill>
                  <a:srgbClr val="64748B"/>
                </a:solidFill>
              </a:defRPr>
            </a:pPr>
            <a:r>
              <a:t>✨ Aula Disponible (Libre)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5349240"/>
            <a:ext cx="2103120" cy="11430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4338CA"/>
                </a:solidFill>
              </a:defRPr>
            </a:pPr>
            <a:r>
              <a:t>💡 EDICIÓN DIRECTA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Haz clic en cualquier aula o pasillo para cambiar texto, tamaño o color directamente en PowerPoint.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50">
                <a:solidFill>
                  <a:srgbClr val="FFFFFF"/>
                </a:solidFill>
              </a:defRPr>
            </a:pPr>
            <a:r>
              <a:t>SECCIÓN 1  •  Plano de las Aulas - Turno Noche (18:00 - 22:30)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Asignaciones Oficiales del Turno Nocturno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01168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PROYECTO OFICIAL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8961120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1246" y="2776637"/>
            <a:ext cx="3871203" cy="115596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PATIO CENTRAL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1246" y="2405076"/>
            <a:ext cx="3584448" cy="37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NORTE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2534" y="2405076"/>
            <a:ext cx="394289" cy="27660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OESTE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0117" y="2405076"/>
            <a:ext cx="394289" cy="27660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ESTE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6823" y="4799576"/>
            <a:ext cx="5627583" cy="37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CIRCULACION SUR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559" y="3932602"/>
            <a:ext cx="358444" cy="231193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CONECTOR SUR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0602" y="3932602"/>
            <a:ext cx="931956" cy="86697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Rectoria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Equipo Directivo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1004" y="3932602"/>
            <a:ext cx="896112" cy="86697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Sala Profesores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Sala de Reuniones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7116" y="3932602"/>
            <a:ext cx="1075334" cy="866974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12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1°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0602" y="5171136"/>
            <a:ext cx="931956" cy="107339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Preceptoria</a:t>
            </a:r>
          </a:p>
          <a:p>
            <a:pPr>
              <a:defRPr sz="700" b="1">
                <a:solidFill>
                  <a:srgbClr val="0F172A"/>
                </a:solidFill>
              </a:defRPr>
            </a:pPr>
            <a:r>
              <a:t>🏛️ Preceptoría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1004" y="5171136"/>
            <a:ext cx="681045" cy="1073396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Kiosco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Kiosco / Buffet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1246" y="3932602"/>
            <a:ext cx="609356" cy="86697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Banos Oeste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Sanitarios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2935" y="5171136"/>
            <a:ext cx="537667" cy="1073396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Banos Sur</a:t>
            </a:r>
          </a:p>
          <a:p>
            <a:pPr>
              <a:defRPr sz="700" b="1">
                <a:solidFill>
                  <a:srgbClr val="334155"/>
                </a:solidFill>
              </a:defRPr>
            </a:pPr>
            <a:r>
              <a:t>🔧 Sanitarios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2049" y="5171136"/>
            <a:ext cx="681045" cy="107339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3°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3094" y="5171136"/>
            <a:ext cx="681045" cy="1073396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2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2°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94139" y="5171136"/>
            <a:ext cx="681045" cy="1073396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3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Periodismo 1°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5184" y="5171136"/>
            <a:ext cx="1433779" cy="1073396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4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1162" y="4469300"/>
            <a:ext cx="967800" cy="701836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5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1162" y="3767464"/>
            <a:ext cx="967800" cy="70183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6</a:t>
            </a:r>
          </a:p>
          <a:p>
            <a:pPr>
              <a:defRPr sz="700" b="1">
                <a:solidFill>
                  <a:srgbClr val="166534"/>
                </a:solidFill>
              </a:defRPr>
            </a:pPr>
            <a:r>
              <a:t>🏃 Prep. Física 3°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1162" y="3065628"/>
            <a:ext cx="967800" cy="701836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7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Pedagogía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1162" y="2405076"/>
            <a:ext cx="967800" cy="660551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8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3°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4407" y="1191313"/>
            <a:ext cx="1254556" cy="1213763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9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1° 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5694" y="1191313"/>
            <a:ext cx="1218712" cy="1213763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10</a:t>
            </a:r>
          </a:p>
          <a:p>
            <a:pPr>
              <a:defRPr sz="700" b="1">
                <a:solidFill>
                  <a:srgbClr val="9F1239"/>
                </a:solidFill>
              </a:defRPr>
            </a:pPr>
            <a:r>
              <a:t>🏥 Enfermería 3°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4917" y="2405076"/>
            <a:ext cx="1039489" cy="1527525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11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 2°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1004" y="1191313"/>
            <a:ext cx="1684690" cy="1213763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Taller / Computacion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Informática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111" y="1191313"/>
            <a:ext cx="2043135" cy="1213763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Cocina / Deposito</a:t>
            </a:r>
          </a:p>
          <a:p>
            <a:pPr>
              <a:defRPr sz="700" b="1">
                <a:solidFill>
                  <a:srgbClr val="9A3412"/>
                </a:solidFill>
              </a:defRPr>
            </a:pPr>
            <a:r>
              <a:t>🍳 Cocina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6823" y="2405076"/>
            <a:ext cx="824423" cy="1197249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16</a:t>
            </a:r>
          </a:p>
          <a:p>
            <a:pPr>
              <a:defRPr sz="700" b="1">
                <a:solidFill>
                  <a:srgbClr val="3730A3"/>
                </a:solidFill>
              </a:defRPr>
            </a:pPr>
            <a:r>
              <a:t>💻 Software 1°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6823" y="3602326"/>
            <a:ext cx="824423" cy="1197249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15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3°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111" y="2405076"/>
            <a:ext cx="824423" cy="1279818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17</a:t>
            </a:r>
          </a:p>
          <a:p>
            <a:pPr>
              <a:defRPr sz="700" b="1">
                <a:solidFill>
                  <a:srgbClr val="9F1239"/>
                </a:solidFill>
              </a:defRPr>
            </a:pPr>
            <a:r>
              <a:t>🏥 Enfermería 2°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111" y="3684895"/>
            <a:ext cx="824423" cy="1238534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18</a:t>
            </a:r>
          </a:p>
          <a:p>
            <a:pPr>
              <a:defRPr sz="700" b="1">
                <a:solidFill>
                  <a:srgbClr val="6B21A8"/>
                </a:solidFill>
              </a:defRPr>
            </a:pPr>
            <a:r>
              <a:t>⚖️ Jurídica 1°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111" y="4923429"/>
            <a:ext cx="824423" cy="1321103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19</a:t>
            </a:r>
          </a:p>
          <a:p>
            <a:pPr>
              <a:defRPr sz="700" b="1">
                <a:solidFill>
                  <a:srgbClr val="92400E"/>
                </a:solidFill>
              </a:defRPr>
            </a:pPr>
            <a:r>
              <a:t>🦺 Hig. y Seg. 2°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32534" y="5171136"/>
            <a:ext cx="1290401" cy="107339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20</a:t>
            </a:r>
          </a:p>
          <a:p>
            <a:pPr>
              <a:defRPr sz="700" b="1">
                <a:solidFill>
                  <a:srgbClr val="166534"/>
                </a:solidFill>
              </a:defRPr>
            </a:pPr>
            <a:r>
              <a:t>🏃 Prep. Física 1°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96012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ESTADO DEL TURNO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17 Aulas Ocupadas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✨ 4 Aulas Libres / Disponibles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22860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REFERENCIAS POR ÁREA</a:t>
            </a:r>
          </a:p>
          <a:p>
            <a:pPr>
              <a:defRPr sz="780" b="1">
                <a:solidFill>
                  <a:srgbClr val="9F1239"/>
                </a:solidFill>
              </a:defRPr>
            </a:pPr>
            <a:r>
              <a:t>🏥 Salud y Enfermería</a:t>
            </a:r>
          </a:p>
          <a:p>
            <a:pPr>
              <a:defRPr sz="780" b="1">
                <a:solidFill>
                  <a:srgbClr val="92400E"/>
                </a:solidFill>
              </a:defRPr>
            </a:pPr>
            <a:r>
              <a:t>🦺 Higiene y Seguridad</a:t>
            </a:r>
          </a:p>
          <a:p>
            <a:pPr>
              <a:defRPr sz="780" b="1">
                <a:solidFill>
                  <a:srgbClr val="3730A3"/>
                </a:solidFill>
              </a:defRPr>
            </a:pPr>
            <a:r>
              <a:t>💻 Software e IA</a:t>
            </a:r>
          </a:p>
          <a:p>
            <a:pPr>
              <a:defRPr sz="780" b="1">
                <a:solidFill>
                  <a:srgbClr val="6B21A8"/>
                </a:solidFill>
              </a:defRPr>
            </a:pPr>
            <a:r>
              <a:t>⚖️ Jurídica y Social</a:t>
            </a:r>
          </a:p>
          <a:p>
            <a:pPr>
              <a:defRPr sz="780" b="1">
                <a:solidFill>
                  <a:srgbClr val="9A3412"/>
                </a:solidFill>
              </a:defRPr>
            </a:pPr>
            <a:r>
              <a:t>🍳 Gastronomía / Cocina</a:t>
            </a:r>
          </a:p>
          <a:p>
            <a:pPr>
              <a:defRPr sz="780" b="1">
                <a:solidFill>
                  <a:srgbClr val="166534"/>
                </a:solidFill>
              </a:defRPr>
            </a:pPr>
            <a:r>
              <a:t>🏃 Preparación Física</a:t>
            </a:r>
          </a:p>
          <a:p>
            <a:pPr>
              <a:defRPr sz="780" b="1">
                <a:solidFill>
                  <a:srgbClr val="155E75"/>
                </a:solidFill>
              </a:defRPr>
            </a:pPr>
            <a:r>
              <a:t>💼 Gestión Financiera</a:t>
            </a:r>
          </a:p>
          <a:p>
            <a:pPr>
              <a:defRPr sz="780" b="1">
                <a:solidFill>
                  <a:srgbClr val="64748B"/>
                </a:solidFill>
              </a:defRPr>
            </a:pPr>
            <a:r>
              <a:t>✨ Aula Disponible (Libre)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5349240"/>
            <a:ext cx="2103120" cy="11430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4338CA"/>
                </a:solidFill>
              </a:defRPr>
            </a:pPr>
            <a:r>
              <a:t>💡 EDICIÓN DIRECTA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Haz clic en cualquier aula o pasillo para cambiar texto, tamaño o color directamente en PowerPoint.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50">
                <a:solidFill>
                  <a:srgbClr val="FFFFFF"/>
                </a:solidFill>
              </a:defRPr>
            </a:pPr>
            <a:r>
              <a:t>SECCIÓN 1  •  Plano de las Aulas - Vista Integral Multiturno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Visualización simultánea de Mañana (M), Tarde (T) y Noche 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01168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PROYECTO OFICIAL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8961120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1246" y="2776637"/>
            <a:ext cx="3871203" cy="115596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PATIO CENTRAL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1246" y="2405076"/>
            <a:ext cx="3584448" cy="37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NORTE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2534" y="2405076"/>
            <a:ext cx="394289" cy="276606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OESTE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0117" y="2405076"/>
            <a:ext cx="394289" cy="276606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ESTE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6823" y="4799576"/>
            <a:ext cx="5627583" cy="37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CIRCULACION SUR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559" y="3932602"/>
            <a:ext cx="358444" cy="231193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CONECTOR SUR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0602" y="3932602"/>
            <a:ext cx="931956" cy="8669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Rectoria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Equipo Directivo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Equipo Directivo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Equipo Directivo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1004" y="3932602"/>
            <a:ext cx="896112" cy="8669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Sala Profesores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Sala de Reuniones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Sala de Reuniones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Sala de Reuniones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7116" y="3932602"/>
            <a:ext cx="1075334" cy="8669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12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Cocina 1°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Cocina 1°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Cocina 1°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0602" y="5171136"/>
            <a:ext cx="931956" cy="10733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Preceptoria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Preceptoría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Preceptoría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Preceptoría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1004" y="5171136"/>
            <a:ext cx="681045" cy="10733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Kiosco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Kiosco / Buffet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Kiosco / Buffet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Kiosco / Buffet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1246" y="3932602"/>
            <a:ext cx="609356" cy="8669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Banos Oeste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Sanitarios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Sanitarios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Sanitarios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2935" y="5171136"/>
            <a:ext cx="537667" cy="10733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Banos Sur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Sanitarios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Sanitarios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Sanitarios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2049" y="5171136"/>
            <a:ext cx="681045" cy="10733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Cocina 3°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Cocina 3°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Cocina 3°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3094" y="5171136"/>
            <a:ext cx="681045" cy="10733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2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Jurídica 2°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Jurídica 2°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Jurídica 2°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94139" y="5171136"/>
            <a:ext cx="681045" cy="10733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3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Periodismo 1°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Periodismo 1°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Periodismo 1°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5184" y="5171136"/>
            <a:ext cx="1433779" cy="10733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4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Hig. y Seg. 1° A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Hig. y Seg. 1° A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Hig. y Seg. 1°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1162" y="4469300"/>
            <a:ext cx="967800" cy="7018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5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Hig. y Seg. 1° B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Hig. y Seg. 1° B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Hig. y Seg. 1°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1162" y="3767464"/>
            <a:ext cx="967800" cy="7018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6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Prep. Física 3°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Prep. Física 3°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Prep. Física 3°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1162" y="3065628"/>
            <a:ext cx="967800" cy="7018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7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Pedagogía 7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Pedagogía 7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Pedagogía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1162" y="2405076"/>
            <a:ext cx="967800" cy="66055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8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Jurídica 3°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Jurídica 3°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Jurídica 3°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4407" y="1191313"/>
            <a:ext cx="1254556" cy="121376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9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Hig. y Seg. 1° C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Hig. y Seg. 1° C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Hig. y Seg. 1° 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5694" y="1191313"/>
            <a:ext cx="1218712" cy="121376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10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Enfermería 3°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Enfermería 3°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Enfermería 3°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4917" y="2405076"/>
            <a:ext cx="1039489" cy="15275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11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Cocina 2°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Cocina 2°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Cocina 2°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1004" y="1191313"/>
            <a:ext cx="1684690" cy="121376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Taller / Computacion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Informática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Informática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Informática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111" y="1191313"/>
            <a:ext cx="2043135" cy="121376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Cocina / Deposito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Cocina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Cocina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Cocina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6823" y="2405076"/>
            <a:ext cx="824423" cy="11972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16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Software 1°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Software 1°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Software 1°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6823" y="3602326"/>
            <a:ext cx="824423" cy="11972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15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Hig. y Seg. 3°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Hig. y Seg. 3°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Hig. y Seg. 3°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111" y="2405076"/>
            <a:ext cx="824423" cy="127981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17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Enfermería 2°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Enfermería 2°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Enfermería 2°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111" y="3684895"/>
            <a:ext cx="824423" cy="123853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18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Jurídica 1°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Jurídica 1°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Jurídica 1°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111" y="4923429"/>
            <a:ext cx="824423" cy="13211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19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Hig. y Seg. 2°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Hig. y Seg. 2°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Hig. y Seg. 2°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32534" y="5171136"/>
            <a:ext cx="1290401" cy="10733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Aula 20</a:t>
            </a:r>
          </a:p>
          <a:p>
            <a:pPr>
              <a:defRPr sz="650">
                <a:solidFill>
                  <a:srgbClr val="0284C7"/>
                </a:solidFill>
              </a:defRPr>
            </a:pPr>
            <a:r>
              <a:t>M: Prep. Física 1°</a:t>
            </a:r>
          </a:p>
          <a:p>
            <a:pPr>
              <a:defRPr sz="650">
                <a:solidFill>
                  <a:srgbClr val="D97706"/>
                </a:solidFill>
              </a:defRPr>
            </a:pPr>
            <a:r>
              <a:t>T: Prep. Física 1°</a:t>
            </a:r>
          </a:p>
          <a:p>
            <a:pPr>
              <a:defRPr sz="650">
                <a:solidFill>
                  <a:srgbClr val="7C3AED"/>
                </a:solidFill>
              </a:defRPr>
            </a:pPr>
            <a:r>
              <a:t>N: Prep. Física 1°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960120"/>
            <a:ext cx="2103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RESUMEN MULTITURNO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🌅 Mañana: 18 ocupadas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☀️ Tarde: 17 ocupadas</a:t>
            </a:r>
          </a:p>
          <a:p>
            <a:pPr>
              <a:defRPr sz="900" b="1">
                <a:solidFill>
                  <a:srgbClr val="7C3AED"/>
                </a:solidFill>
              </a:defRPr>
            </a:pPr>
            <a:r>
              <a:t>🌙 Noche: 17 ocupadas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3154680"/>
            <a:ext cx="2103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CAPACIDAD TOTAL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22 Espacios lectivos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5 Pasillos y galerías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1 Patio central abierto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1 Sala de profesores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1 Rectoría / Dirección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1 Taller de cómputo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Cobertura rotativa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50">
                <a:solidFill>
                  <a:srgbClr val="FFFFFF"/>
                </a:solidFill>
              </a:defRPr>
            </a:pPr>
            <a:r>
              <a:t>SECCIÓN 2  •  Plano de Redes y Telecomunicaciones (Anexo 1 Oficial)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16 Access Points Wi-Fi (AP1-AP16)  |  Tendido PoE UTP (Rojo)  |  Backbone Core ISP (Azul)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01168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PROYECTO OFICIAL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8961120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1246" y="2776637"/>
            <a:ext cx="3871203" cy="115596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PATIO CENTRAL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1246" y="2405076"/>
            <a:ext cx="3584448" cy="37156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NORTE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2534" y="2405076"/>
            <a:ext cx="394289" cy="276606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OESTE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0117" y="2405076"/>
            <a:ext cx="394289" cy="276606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PASILLO ESTE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6823" y="4799576"/>
            <a:ext cx="5627583" cy="37156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CIRCULACION SUR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559" y="3932602"/>
            <a:ext cx="358444" cy="231193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CONECTOR SUR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0602" y="3932602"/>
            <a:ext cx="931956" cy="866974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🏛️ Rectoria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1004" y="3932602"/>
            <a:ext cx="896112" cy="866974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🏛️ Sala Profesores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7116" y="3932602"/>
            <a:ext cx="1075334" cy="866974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🍳 Aula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0602" y="5171136"/>
            <a:ext cx="931956" cy="107339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🏛️ Preceptoria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1004" y="5171136"/>
            <a:ext cx="681045" cy="1073396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🔧 Kiosco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1246" y="3932602"/>
            <a:ext cx="609356" cy="866974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🔧 Banos Oeste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2935" y="5171136"/>
            <a:ext cx="537667" cy="1073396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🔧 Banos Sur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2049" y="5171136"/>
            <a:ext cx="681045" cy="1073396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🍳 Aula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3094" y="5171136"/>
            <a:ext cx="681045" cy="1073396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⚖️ Aula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94139" y="5171136"/>
            <a:ext cx="681045" cy="1073396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⚖️ Aula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5184" y="5171136"/>
            <a:ext cx="1433779" cy="1073396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🦺 Aula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1162" y="4469300"/>
            <a:ext cx="967800" cy="701836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🦺 Aula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1162" y="3767464"/>
            <a:ext cx="967800" cy="701836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🏃 Aula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1162" y="3065628"/>
            <a:ext cx="967800" cy="701836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💻 Aula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1162" y="2405076"/>
            <a:ext cx="967800" cy="660551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⚖️ Aula 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4407" y="1191313"/>
            <a:ext cx="1254556" cy="1213763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🦺 Aula 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5694" y="1191313"/>
            <a:ext cx="1218712" cy="1213763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🏥 Aula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4917" y="2405076"/>
            <a:ext cx="1039489" cy="1527525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🍳 Aula 11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1004" y="1191313"/>
            <a:ext cx="1684690" cy="1213763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💻 Taller / Computacion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111" y="1191313"/>
            <a:ext cx="2043135" cy="1213763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🍳 Cocina / Deposito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6823" y="2405076"/>
            <a:ext cx="824423" cy="1197249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💻 Aula 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6823" y="3602326"/>
            <a:ext cx="824423" cy="1197249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🦺 Aula 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111" y="2405076"/>
            <a:ext cx="824423" cy="127981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🏥 Aula 17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111" y="3684895"/>
            <a:ext cx="824423" cy="1238534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⚖️ Aula 18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111" y="4923429"/>
            <a:ext cx="824423" cy="1321103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🦺 Aula 19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32534" y="5171136"/>
            <a:ext cx="1290401" cy="1073396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27432" rIns="36576" wrap="square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🏃 Aula 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68136" y="3973886"/>
            <a:ext cx="752734" cy="247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20870" y="3973886"/>
            <a:ext cx="2401580" cy="247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71781" y="3973886"/>
            <a:ext cx="21506" cy="119724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71781" y="5171136"/>
            <a:ext cx="286755" cy="247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8537" y="5171136"/>
            <a:ext cx="21506" cy="12385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20870" y="5171136"/>
            <a:ext cx="250911" cy="247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20870" y="5171136"/>
            <a:ext cx="21506" cy="53669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60602" y="6203248"/>
            <a:ext cx="860267" cy="247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20870" y="5707834"/>
            <a:ext cx="21506" cy="49541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58537" y="5253705"/>
            <a:ext cx="645200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03738" y="5253705"/>
            <a:ext cx="21506" cy="28899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58537" y="4964714"/>
            <a:ext cx="2724180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22450" y="4964714"/>
            <a:ext cx="21506" cy="57798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54649" y="4469300"/>
            <a:ext cx="21506" cy="49541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82718" y="4964714"/>
            <a:ext cx="179222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61940" y="4964714"/>
            <a:ext cx="21506" cy="37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82718" y="2405076"/>
            <a:ext cx="21506" cy="2559637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82718" y="3891317"/>
            <a:ext cx="394289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73361" y="3106912"/>
            <a:ext cx="609356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82718" y="2983059"/>
            <a:ext cx="681045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82718" y="2405076"/>
            <a:ext cx="107533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90251" y="2157369"/>
            <a:ext cx="21506" cy="24770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8027" y="2405076"/>
            <a:ext cx="1684690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98027" y="1744525"/>
            <a:ext cx="21506" cy="66055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32534" y="4964714"/>
            <a:ext cx="3226003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92559" y="4015171"/>
            <a:ext cx="21506" cy="94954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20870" y="4015171"/>
            <a:ext cx="71688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073847" y="4964714"/>
            <a:ext cx="21506" cy="10733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532534" y="4964714"/>
            <a:ext cx="35844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68378" y="4964714"/>
            <a:ext cx="21506" cy="4128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32534" y="1827094"/>
            <a:ext cx="21506" cy="31376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475183" y="2983059"/>
            <a:ext cx="57351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532534" y="2405076"/>
            <a:ext cx="860267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392801" y="2405076"/>
            <a:ext cx="21506" cy="1114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96689" y="1827094"/>
            <a:ext cx="35844" cy="2477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89400" y="5526183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045293" y="5336274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AP1</a:t>
            </a:r>
          </a:p>
        </p:txBody>
      </p:sp>
      <p:sp>
        <p:nvSpPr>
          <p:cNvPr id="77" name="Oval 76"/>
          <p:cNvSpPr/>
          <p:nvPr/>
        </p:nvSpPr>
        <p:spPr>
          <a:xfrm>
            <a:off x="6608112" y="5526183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264005" y="5336274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AP2</a:t>
            </a:r>
          </a:p>
        </p:txBody>
      </p:sp>
      <p:sp>
        <p:nvSpPr>
          <p:cNvPr id="79" name="Oval 78"/>
          <p:cNvSpPr/>
          <p:nvPr/>
        </p:nvSpPr>
        <p:spPr>
          <a:xfrm>
            <a:off x="7504224" y="5319760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124273" y="5088567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AP3</a:t>
            </a:r>
          </a:p>
        </p:txBody>
      </p:sp>
      <p:sp>
        <p:nvSpPr>
          <p:cNvPr id="81" name="Oval 80"/>
          <p:cNvSpPr/>
          <p:nvPr/>
        </p:nvSpPr>
        <p:spPr>
          <a:xfrm>
            <a:off x="7862669" y="3874804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375184" y="3932602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AP4</a:t>
            </a:r>
          </a:p>
        </p:txBody>
      </p:sp>
      <p:sp>
        <p:nvSpPr>
          <p:cNvPr id="83" name="Oval 82"/>
          <p:cNvSpPr/>
          <p:nvPr/>
        </p:nvSpPr>
        <p:spPr>
          <a:xfrm>
            <a:off x="8149425" y="2966545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661940" y="2652783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AP5</a:t>
            </a:r>
          </a:p>
        </p:txBody>
      </p:sp>
      <p:sp>
        <p:nvSpPr>
          <p:cNvPr id="85" name="Oval 84"/>
          <p:cNvSpPr/>
          <p:nvPr/>
        </p:nvSpPr>
        <p:spPr>
          <a:xfrm>
            <a:off x="7575913" y="2140856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912851" y="2198654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AP6</a:t>
            </a:r>
          </a:p>
        </p:txBody>
      </p:sp>
      <p:sp>
        <p:nvSpPr>
          <p:cNvPr id="87" name="Oval 86"/>
          <p:cNvSpPr/>
          <p:nvPr/>
        </p:nvSpPr>
        <p:spPr>
          <a:xfrm>
            <a:off x="6859024" y="3090399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837517" y="3478473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AP7</a:t>
            </a:r>
          </a:p>
        </p:txBody>
      </p:sp>
      <p:sp>
        <p:nvSpPr>
          <p:cNvPr id="89" name="Oval 88"/>
          <p:cNvSpPr/>
          <p:nvPr/>
        </p:nvSpPr>
        <p:spPr>
          <a:xfrm>
            <a:off x="5640311" y="4452786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726338" y="3684895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AP8</a:t>
            </a:r>
          </a:p>
        </p:txBody>
      </p:sp>
      <p:sp>
        <p:nvSpPr>
          <p:cNvPr id="91" name="Oval 90"/>
          <p:cNvSpPr/>
          <p:nvPr/>
        </p:nvSpPr>
        <p:spPr>
          <a:xfrm>
            <a:off x="5783689" y="1728011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690494" y="1166542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AP9</a:t>
            </a:r>
          </a:p>
        </p:txBody>
      </p:sp>
      <p:sp>
        <p:nvSpPr>
          <p:cNvPr id="93" name="Oval 92"/>
          <p:cNvSpPr/>
          <p:nvPr/>
        </p:nvSpPr>
        <p:spPr>
          <a:xfrm>
            <a:off x="4206532" y="3998657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292559" y="3519757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AP10</a:t>
            </a:r>
          </a:p>
        </p:txBody>
      </p:sp>
      <p:sp>
        <p:nvSpPr>
          <p:cNvPr id="95" name="Oval 94"/>
          <p:cNvSpPr/>
          <p:nvPr/>
        </p:nvSpPr>
        <p:spPr>
          <a:xfrm>
            <a:off x="2378464" y="3503243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177735" y="3973886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AP11</a:t>
            </a:r>
          </a:p>
        </p:txBody>
      </p:sp>
      <p:sp>
        <p:nvSpPr>
          <p:cNvPr id="97" name="Oval 96"/>
          <p:cNvSpPr/>
          <p:nvPr/>
        </p:nvSpPr>
        <p:spPr>
          <a:xfrm>
            <a:off x="1482352" y="1810580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711756" y="1579387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AP12</a:t>
            </a:r>
          </a:p>
        </p:txBody>
      </p:sp>
      <p:sp>
        <p:nvSpPr>
          <p:cNvPr id="99" name="Oval 98"/>
          <p:cNvSpPr/>
          <p:nvPr/>
        </p:nvSpPr>
        <p:spPr>
          <a:xfrm>
            <a:off x="1460845" y="2966545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94867" y="2900490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AP13</a:t>
            </a:r>
          </a:p>
        </p:txBody>
      </p:sp>
      <p:sp>
        <p:nvSpPr>
          <p:cNvPr id="101" name="Oval 100"/>
          <p:cNvSpPr/>
          <p:nvPr/>
        </p:nvSpPr>
        <p:spPr>
          <a:xfrm>
            <a:off x="1554041" y="5361045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94867" y="5501412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AP14</a:t>
            </a:r>
          </a:p>
        </p:txBody>
      </p:sp>
      <p:sp>
        <p:nvSpPr>
          <p:cNvPr id="103" name="Oval 102"/>
          <p:cNvSpPr/>
          <p:nvPr/>
        </p:nvSpPr>
        <p:spPr>
          <a:xfrm>
            <a:off x="3059509" y="5055540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751246" y="4593154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AP15</a:t>
            </a:r>
          </a:p>
        </p:txBody>
      </p:sp>
      <p:sp>
        <p:nvSpPr>
          <p:cNvPr id="105" name="Oval 104"/>
          <p:cNvSpPr/>
          <p:nvPr/>
        </p:nvSpPr>
        <p:spPr>
          <a:xfrm>
            <a:off x="4206532" y="5691321"/>
            <a:ext cx="157715" cy="181651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579315" y="6038110"/>
            <a:ext cx="344107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📡 AP16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822935" y="2842692"/>
            <a:ext cx="1290401" cy="87523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b="1" sz="800">
                <a:solidFill>
                  <a:srgbClr val="38BDF8"/>
                </a:solidFill>
              </a:defRPr>
            </a:pPr>
            <a:r>
              <a:t>NODO CENTRAL RECTORÍA</a:t>
            </a:r>
          </a:p>
          <a:p>
            <a:pPr>
              <a:defRPr b="1" sz="750">
                <a:solidFill>
                  <a:srgbClr val="FFFFFF"/>
                </a:solidFill>
              </a:defRPr>
            </a:pPr>
            <a:r>
              <a:t>🌐 Modem Fibra (ISP WAN)</a:t>
            </a:r>
          </a:p>
          <a:p>
            <a:pPr>
              <a:defRPr b="1" sz="750">
                <a:solidFill>
                  <a:srgbClr val="FFFFFF"/>
                </a:solidFill>
              </a:defRPr>
            </a:pPr>
            <a:r>
              <a:t>🔀 Router Gateway (DHCP / VLANs)</a:t>
            </a:r>
          </a:p>
          <a:p>
            <a:pPr>
              <a:defRPr b="1" sz="750">
                <a:solidFill>
                  <a:srgbClr val="FFFFFF"/>
                </a:solidFill>
              </a:defRPr>
            </a:pPr>
            <a:r>
              <a:t>⚡ Switch 16P (Gestión 1Gbps)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152826" y="2842692"/>
            <a:ext cx="1397934" cy="941286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b="1" sz="800">
                <a:solidFill>
                  <a:srgbClr val="10B981"/>
                </a:solidFill>
              </a:defRPr>
            </a:pPr>
            <a:r>
              <a:t>SIMBOLOGÍA OFICIAL (ANEXO 1)</a:t>
            </a:r>
          </a:p>
          <a:p>
            <a:pPr>
              <a:defRPr sz="700">
                <a:solidFill>
                  <a:srgbClr val="FFFFFF"/>
                </a:solidFill>
              </a:defRPr>
            </a:pPr>
            <a:r>
              <a:t>📡 Punto Acceso Wi-Fi (AP1 - AP16)</a:t>
            </a:r>
          </a:p>
          <a:p>
            <a:pPr>
              <a:defRPr sz="700">
                <a:solidFill>
                  <a:srgbClr val="FFFFFF"/>
                </a:solidFill>
              </a:defRPr>
            </a:pPr>
            <a:r>
              <a:t>⚡ Switch POE 16P (Alimentación)</a:t>
            </a:r>
          </a:p>
          <a:p>
            <a:pPr>
              <a:defRPr sz="700">
                <a:solidFill>
                  <a:srgbClr val="FFFFFF"/>
                </a:solidFill>
              </a:defRPr>
            </a:pPr>
            <a:r>
              <a:t>🗄️ Rack 42U / 🛡️ Firewall UTM</a:t>
            </a:r>
          </a:p>
          <a:p>
            <a:pPr>
              <a:defRPr sz="700" b="1">
                <a:solidFill>
                  <a:srgbClr val="FCA5A5"/>
                </a:solidFill>
              </a:defRPr>
            </a:pPr>
            <a:r>
              <a:t>🔴 Línea Roja: Tendido PoE UTP</a:t>
            </a:r>
          </a:p>
          <a:p>
            <a:pPr>
              <a:defRPr sz="700" b="1">
                <a:solidFill>
                  <a:srgbClr val="93C5FD"/>
                </a:solidFill>
              </a:defRPr>
            </a:pPr>
            <a:r>
              <a:t>🔵 Línea Azul: Troncal Backbone / ISP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715524" y="5377559"/>
            <a:ext cx="444471" cy="7018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tIns="36576"/>
          <a:lstStyle/>
          <a:p>
            <a:pPr algn="ctr">
              <a:defRPr b="1" sz="700">
                <a:solidFill>
                  <a:srgbClr val="38BDF8"/>
                </a:solidFill>
              </a:defRPr>
            </a:pPr>
            <a:r>
              <a:t>🗄️ RACK 42U</a:t>
            </a:r>
          </a:p>
          <a:p>
            <a:pPr>
              <a:defRPr b="1" sz="650">
                <a:solidFill>
                  <a:srgbClr val="10B981"/>
                </a:solidFill>
              </a:defRPr>
            </a:pPr>
            <a:r>
              <a:t>⚡ Sw POE 16P</a:t>
            </a:r>
          </a:p>
          <a:p>
            <a:pPr>
              <a:defRPr b="1" sz="650">
                <a:solidFill>
                  <a:srgbClr val="FDE68A"/>
                </a:solidFill>
              </a:defRPr>
            </a:pPr>
            <a:r>
              <a:t>🛡️ Firewall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575669" y="5790403"/>
            <a:ext cx="752734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FFFF"/>
                </a:solidFill>
              </a:defRPr>
            </a:pPr>
            <a:r>
              <a:t>🔀 Switch 8P (Precept.)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23178" y="2429847"/>
            <a:ext cx="752734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FFFF"/>
                </a:solidFill>
              </a:defRPr>
            </a:pPr>
            <a:r>
              <a:t>🔀 Switch 16P (Oeste)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443228" y="4551869"/>
            <a:ext cx="716889" cy="16513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FFFF"/>
                </a:solidFill>
              </a:defRPr>
            </a:pPr>
            <a:r>
              <a:t>📶 Router (Wi-Fi 12)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601200" y="960120"/>
            <a:ext cx="2103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EQUIPAMIENTO ACTIVO</a:t>
            </a:r>
          </a:p>
          <a:p>
            <a:pPr>
              <a:defRPr sz="1000" b="1">
                <a:solidFill>
                  <a:srgbClr val="E11D48"/>
                </a:solidFill>
              </a:defRPr>
            </a:pPr>
            <a:r>
              <a:t>📡 16 Access Points (AP)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🗄️ 4 Switches + 1 Rack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🛡️ 1 Firewall Perimetral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601200" y="274320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CABLEADO ESTRUCTURADO</a:t>
            </a:r>
          </a:p>
          <a:p>
            <a:pPr>
              <a:defRPr sz="750">
                <a:solidFill>
                  <a:srgbClr val="DC2626"/>
                </a:solidFill>
              </a:defRPr>
            </a:pPr>
            <a:r>
              <a:t>■ Tendido Rojo: UTP PoE Cat 6A que alimenta a los 16 APs desde Switch POE Kiosco.</a:t>
            </a:r>
          </a:p>
          <a:p>
            <a:pPr>
              <a:defRPr sz="750">
                <a:solidFill>
                  <a:srgbClr val="2563EB"/>
                </a:solidFill>
              </a:defRPr>
            </a:pPr>
            <a:r>
              <a:t>■ Enlace Azul: Troncal Backbone que une Modem ISP y Router DHCP con Rack Kiosco y Preceptoría.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601200" y="4983480"/>
            <a:ext cx="2103120" cy="15087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00" b="1">
                <a:solidFill>
                  <a:srgbClr val="166534"/>
                </a:solidFill>
              </a:defRPr>
            </a:pPr>
            <a:r>
              <a:t>📶 COBERTURA 100%</a:t>
            </a:r>
          </a:p>
          <a:p>
            <a:pPr>
              <a:defRPr sz="750">
                <a:solidFill>
                  <a:srgbClr val="0F172A"/>
                </a:solidFill>
              </a:defRPr>
            </a:pPr>
            <a:r>
              <a:t>Distribución uniforme que elimina zonas ciegas en aulas lectivas, dirección y talleres técnicos.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50">
                <a:solidFill>
                  <a:srgbClr val="FFFFFF"/>
                </a:solidFill>
              </a:defRPr>
            </a:pPr>
            <a:r>
              <a:t>SECCIÓN 2  •  Inventario Técnico de Telecomunicaciones (16 APs + Equipos Core)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Detalle técnico de puntos de red, direccionamiento IP y bocas de switch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01168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PROYECTO OFICIAL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8961120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1246" y="2776637"/>
            <a:ext cx="3871203" cy="115596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PATIO CENTRAL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051560"/>
          <a:ext cx="111556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926080"/>
                <a:gridCol w="2011680"/>
                <a:gridCol w="2011680"/>
              </a:tblGrid>
              <a:tr h="311971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Dispositivo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Espacio / Aula Asignada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Boca de Switch / Puerto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Dirección IP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VLAN / Función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Taller / Computacion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Rectoria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P16 Rectoría (P10)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10 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P16 Oeste (P11)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/ Deposito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P16 Oeste (P12)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P16 Oeste (P13)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Aula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Pasillo Sur (Banos)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POE (P15)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50 Wi-Fi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198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📡 AP16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Preceptoria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Switch P8 Preceptoría (P8)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192.168.100.26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VLAN 10 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50">
                <a:solidFill>
                  <a:srgbClr val="FFFFFF"/>
                </a:solidFill>
              </a:defRPr>
            </a:pPr>
            <a:r>
              <a:t>HERRAMIENTAS  •  Catálogo de Bloques y Símbolos Sueltos (Para Copiar y Pegar)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Selecciona, copia (Ctrl+C) y pega (Ctrl+V) cualquiera de estos bloques nativos desbloqueados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01168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PROYECTO OFICIAL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8961120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1246" y="2776637"/>
            <a:ext cx="3871203" cy="115596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PATIO CENTRAL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0116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1920240"/>
            <a:ext cx="1463040" cy="100584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Access Point (AP)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Punto Wi-Fi con alimentación PoE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645920"/>
            <a:ext cx="20116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1920240"/>
            <a:ext cx="1463040" cy="100584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SWITCH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6324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Switch POE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Switch de 16 u 8 bocas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645920"/>
            <a:ext cx="20116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0679" y="1920240"/>
            <a:ext cx="1463040" cy="100584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19" y="306324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Router / FireWall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Gateway o firewall perimetral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1645920"/>
            <a:ext cx="20116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35239" y="1920240"/>
            <a:ext cx="1463040" cy="100584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06324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Rack Mural 12U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Gabinete de comunicaciones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1645920"/>
            <a:ext cx="20116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29800" y="1920240"/>
            <a:ext cx="14630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Aula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6324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Aula Nueva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Bloque estándar de espacio escolar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29200"/>
            <a:ext cx="10607040" cy="10972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📌 CÓMO EDITAR Y CREAR NUEVOS ELEMENTOS: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1. Haz clic sobre cualquiera de los símbolos de arriba y presiona Ctrl + C para copiar.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2. Ve a la diapositiva deseada y presiona Ctrl + V para pegar. Puedes moverlo, cambiarle el texto o modificar el tamaño arrastrando las esquinas.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50">
                <a:solidFill>
                  <a:srgbClr val="FFFFFF"/>
                </a:solidFill>
              </a:defRPr>
            </a:pPr>
            <a:r>
              <a:t>SECCIÓN 1  •  Planilla General de Asignaciones y Horarios de Aulas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Resumen consolidado de turnos, materias y actividades pedagógicas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01168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PROYECTO OFICIAL •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8961120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1246" y="2776637"/>
            <a:ext cx="3871203" cy="1155965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PATIO CENTRAL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051560"/>
          <a:ext cx="111556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017520"/>
                <a:gridCol w="3108960"/>
              </a:tblGrid>
              <a:tr h="279132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Espacio / Dependencia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Turno Mañana (08:00 - 12:30)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Turno Tarde (13:00 - 17:30)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Turno Noche (18:00 - 22:30)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Rectoria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Equipo Directivo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Equipo Directivo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Equipo Directivo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Sala Profesores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Sala de Reuniones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Sala de Reuniones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Sala de Reuniones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1°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1°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1°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Preceptoria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Preceptoría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Preceptoría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Preceptoría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Kiosco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Kiosco / Buffet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Kiosco / Buffet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Kiosco / Buffet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Banos Oeste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Sanitarios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Sanitarios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Sanitarios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Banos Sur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Sanitarios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Sanitarios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Sanitarios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3°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3°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3°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Jurídica 2°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Jurídica 2°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Jurídica 2°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Periodismo 1°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Periodismo 1°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Periodismo 1°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Prep. Física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Prep. Física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Prep. Física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Pedagogía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Pedagogía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Pedagogía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Jurídica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Jurídica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Jurídica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Hig. y Seg. 1°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Enfermería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Enfermería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Enfermería 3°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914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Aula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2°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2°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</a:defRPr>
                      </a:pPr>
                      <a:r>
                        <a:t>Cocina 2°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